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6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E9C36-CA78-F635-63C9-1D6B67379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674E5F-4361-BBB0-4AFE-AB95BE6CA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1E240-C46D-6E3C-959B-DE534D45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27DA-64EB-43E9-BC97-D92A8E283C69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1996F4-E770-848B-CFEB-A8FA471CA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32429C-ADEF-F589-DD63-934D00D7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00E9-932B-4B93-B39B-A8B2F25AA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73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A59CB-6DFB-DF16-3EF8-AC3E2B5D1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AADF6E-DD9F-DAE1-1A47-9F3CF848B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919BED-CC2A-D03B-0FFA-719497A36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27DA-64EB-43E9-BC97-D92A8E283C69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0A587A-96BE-ECB0-E7C9-880FCEDB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9DB33C-44C2-5041-FDD7-BB7CFF29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00E9-932B-4B93-B39B-A8B2F25AA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703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91453-6083-2C4B-266C-1DF84D793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A6442B-8A1B-1D55-BC55-FDCADA7E0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89E1C9-2570-B7EE-DA47-99CB1733A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27DA-64EB-43E9-BC97-D92A8E283C69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1EE627-B3A4-5EE2-1599-61930E431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35D362-FCF4-21E5-D70C-F6ACA4C0D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00E9-932B-4B93-B39B-A8B2F25AA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38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EFF3A-EE8B-6204-984C-98801D08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0BCE77-1C9E-7190-E303-9FC02B852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8AB1AA-72F5-5AA8-0077-66D4D8889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0C8677-3901-FEAC-2226-4288D813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27DA-64EB-43E9-BC97-D92A8E283C69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9FE425-F61E-88D1-096F-32034BAD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99CB19-EC19-80A0-6E3F-E0383674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00E9-932B-4B93-B39B-A8B2F25AA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53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8312B-034D-C895-637B-52DA0FAE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AB1F4-2951-C4E9-D976-F65879351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2EFBA9-BAB2-D448-4628-9E9FF8AE8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1C6A77-0CE7-29D7-3C20-2E6B2E4778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97FAF3-0C05-5745-CDF6-CCC64AA514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09C753-1C29-FBF3-1B9B-828E75A9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27DA-64EB-43E9-BC97-D92A8E283C69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F14A210-C11D-3E6B-7FD6-3948D2784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08B822-1060-EC88-7ABF-7C3E4961B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00E9-932B-4B93-B39B-A8B2F25AA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29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4063E-34C1-4EEF-740F-26DDCDDEF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89DA0B-BC63-FEE9-6E50-A76C747A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27DA-64EB-43E9-BC97-D92A8E283C69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CD71F4-8F5A-098B-C34E-0721D11A6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07517F-0289-F204-7849-8307224C7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00E9-932B-4B93-B39B-A8B2F25AA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532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68C42B4-F538-75C3-40F2-3AE6718FC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27DA-64EB-43E9-BC97-D92A8E283C69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F8500CE-BAC8-2EAC-04DE-93BD4552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FD3470-EEC0-A441-52DC-4E79C8EA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00E9-932B-4B93-B39B-A8B2F25AA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323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08FE14-201F-9369-E43E-931404ACA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B2EDCC-4055-1211-91BC-EE8AC191C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21DB87-0C28-35CA-EB47-4AB879D49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43F52A-C607-9322-3E6C-C90EC445D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27DA-64EB-43E9-BC97-D92A8E283C69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E22ED8-DCD6-EB2B-9F08-88380EA1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EC1E19-25F5-0DB7-B83E-B5DAB375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00E9-932B-4B93-B39B-A8B2F25AA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37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F3EC5-F194-5275-D362-E64DBD503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AE0BA5-66E8-C254-7AC4-C3E8C6710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408480-014E-41A1-518C-976D1D362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3A164A-1DC2-3345-CC07-6CDEBA97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27DA-64EB-43E9-BC97-D92A8E283C69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22953D-DC46-D8D9-5A83-2810E6F10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72886E-E452-74FE-171A-53EE4963C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00E9-932B-4B93-B39B-A8B2F25AA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29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C2585-9AF4-B3BC-B6E1-88150DC0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D329FB-0C87-02AD-9125-2794E03C9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14E2E7-A1BE-040C-2283-F7F9BB5C2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27DA-64EB-43E9-BC97-D92A8E283C69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393BD3-C6F6-8EED-FB0A-83385761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3E6CF3-90D8-2F25-C968-4DB0CE41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00E9-932B-4B93-B39B-A8B2F25AA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696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816A194-C31B-3C60-1A7B-E93D9386D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27839A-7155-C7D1-BCE6-1CED6F053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C6E5B4-D39D-DFF7-2E31-7E806F940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27DA-64EB-43E9-BC97-D92A8E283C69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673651-BE60-478A-1A6A-5E2DBAC1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38E6-0E03-5D72-E2FF-F06A4B9EF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00E9-932B-4B93-B39B-A8B2F25AA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22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B2EF71-1C62-80FF-B899-47B65487E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A12433-E70D-3243-1A03-D855A45A9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268A4A-33E0-A947-C71D-28443F278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B27DA-64EB-43E9-BC97-D92A8E283C69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741E4-9A42-05FC-BD7A-F888B2CD7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978A78-74E5-A597-6FDA-8475035AC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000E9-932B-4B93-B39B-A8B2F25AA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397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435CDD71-277C-4C95-0BBB-4889F5C04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5784" y="9332"/>
            <a:ext cx="8374888" cy="6839335"/>
          </a:xfr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4BDDE92-27F4-3A02-C5DC-4D3C22E7E4B7}"/>
              </a:ext>
            </a:extLst>
          </p:cNvPr>
          <p:cNvSpPr/>
          <p:nvPr/>
        </p:nvSpPr>
        <p:spPr>
          <a:xfrm>
            <a:off x="7310582" y="5922049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실외기실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DF0D617-1A87-8009-8AE2-85E05FD59D7E}"/>
              </a:ext>
            </a:extLst>
          </p:cNvPr>
          <p:cNvSpPr/>
          <p:nvPr/>
        </p:nvSpPr>
        <p:spPr>
          <a:xfrm>
            <a:off x="4197928" y="5834864"/>
            <a:ext cx="1399308" cy="59364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에어컨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FD31D3D-724A-915A-27BE-2D4574937B15}"/>
              </a:ext>
            </a:extLst>
          </p:cNvPr>
          <p:cNvSpPr/>
          <p:nvPr/>
        </p:nvSpPr>
        <p:spPr>
          <a:xfrm>
            <a:off x="2085110" y="5687921"/>
            <a:ext cx="1052945" cy="44670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에어컨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FA52742-52C1-8F73-1821-40A742A62A0C}"/>
              </a:ext>
            </a:extLst>
          </p:cNvPr>
          <p:cNvSpPr/>
          <p:nvPr/>
        </p:nvSpPr>
        <p:spPr>
          <a:xfrm>
            <a:off x="6511637" y="5016466"/>
            <a:ext cx="1311563" cy="5564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에어컨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6251E58-355D-514E-18D3-C56935FA3F5B}"/>
              </a:ext>
            </a:extLst>
          </p:cNvPr>
          <p:cNvSpPr/>
          <p:nvPr/>
        </p:nvSpPr>
        <p:spPr>
          <a:xfrm>
            <a:off x="2826328" y="1418902"/>
            <a:ext cx="1311563" cy="5564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에어컨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EEE2317-812C-EBDA-1738-51BC406F707A}"/>
              </a:ext>
            </a:extLst>
          </p:cNvPr>
          <p:cNvCxnSpPr/>
          <p:nvPr/>
        </p:nvCxnSpPr>
        <p:spPr>
          <a:xfrm>
            <a:off x="3223491" y="2041236"/>
            <a:ext cx="0" cy="38700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283342D-65D5-9D86-54A6-4E64A8EC4F6E}"/>
              </a:ext>
            </a:extLst>
          </p:cNvPr>
          <p:cNvCxnSpPr/>
          <p:nvPr/>
        </p:nvCxnSpPr>
        <p:spPr>
          <a:xfrm>
            <a:off x="3223491" y="5911272"/>
            <a:ext cx="974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54BAA93-A8BA-3E1B-97DC-8E53B27127C0}"/>
              </a:ext>
            </a:extLst>
          </p:cNvPr>
          <p:cNvCxnSpPr>
            <a:cxnSpLocks/>
          </p:cNvCxnSpPr>
          <p:nvPr/>
        </p:nvCxnSpPr>
        <p:spPr>
          <a:xfrm>
            <a:off x="7823200" y="5299293"/>
            <a:ext cx="1939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A16BECB-588D-0C9A-ACED-0325ABEB8976}"/>
              </a:ext>
            </a:extLst>
          </p:cNvPr>
          <p:cNvCxnSpPr>
            <a:cxnSpLocks/>
          </p:cNvCxnSpPr>
          <p:nvPr/>
        </p:nvCxnSpPr>
        <p:spPr>
          <a:xfrm>
            <a:off x="8031019" y="5281521"/>
            <a:ext cx="0" cy="812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83BB813-C644-520B-F839-64CF9FCCFCB7}"/>
              </a:ext>
            </a:extLst>
          </p:cNvPr>
          <p:cNvCxnSpPr>
            <a:cxnSpLocks/>
          </p:cNvCxnSpPr>
          <p:nvPr/>
        </p:nvCxnSpPr>
        <p:spPr>
          <a:xfrm>
            <a:off x="5860473" y="5572886"/>
            <a:ext cx="0" cy="4307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4301F69-0A1A-9C68-5915-A7C9EECC9BD7}"/>
              </a:ext>
            </a:extLst>
          </p:cNvPr>
          <p:cNvCxnSpPr>
            <a:cxnSpLocks/>
          </p:cNvCxnSpPr>
          <p:nvPr/>
        </p:nvCxnSpPr>
        <p:spPr>
          <a:xfrm>
            <a:off x="5597236" y="6003635"/>
            <a:ext cx="2632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DCFCCA8-8D54-4929-887C-BA24DB4C8352}"/>
              </a:ext>
            </a:extLst>
          </p:cNvPr>
          <p:cNvCxnSpPr>
            <a:cxnSpLocks/>
          </p:cNvCxnSpPr>
          <p:nvPr/>
        </p:nvCxnSpPr>
        <p:spPr>
          <a:xfrm>
            <a:off x="5860473" y="5559031"/>
            <a:ext cx="6511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56C5671-06E1-673F-0DD6-4EAEE6E8D872}"/>
              </a:ext>
            </a:extLst>
          </p:cNvPr>
          <p:cNvSpPr txBox="1"/>
          <p:nvPr/>
        </p:nvSpPr>
        <p:spPr>
          <a:xfrm>
            <a:off x="355784" y="583108"/>
            <a:ext cx="1311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&lt;</a:t>
            </a:r>
            <a:r>
              <a:rPr lang="ko-KR" altLang="en-US" sz="1800" b="1" dirty="0">
                <a:solidFill>
                  <a:schemeClr val="tx1"/>
                </a:solidFill>
              </a:rPr>
              <a:t>에어컨</a:t>
            </a:r>
            <a:r>
              <a:rPr lang="en-US" altLang="ko-KR" sz="1800" b="1" dirty="0">
                <a:solidFill>
                  <a:schemeClr val="tx1"/>
                </a:solidFill>
              </a:rPr>
              <a:t>&gt;</a:t>
            </a:r>
            <a:endParaRPr lang="ko-KR" altLang="en-US" sz="1800" b="1" dirty="0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A6639CB-CD14-61C4-4BE8-BC0457AD575E}"/>
              </a:ext>
            </a:extLst>
          </p:cNvPr>
          <p:cNvSpPr/>
          <p:nvPr/>
        </p:nvSpPr>
        <p:spPr>
          <a:xfrm>
            <a:off x="9848283" y="960586"/>
            <a:ext cx="1948873" cy="1473200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서대문구 북아현동 </a:t>
            </a:r>
            <a:r>
              <a:rPr lang="en-US" altLang="ko-KR" sz="1200" b="1" dirty="0">
                <a:solidFill>
                  <a:schemeClr val="tx1"/>
                </a:solidFill>
              </a:rPr>
              <a:t>1011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북아현로</a:t>
            </a:r>
            <a:r>
              <a:rPr lang="en-US" altLang="ko-KR" sz="1200" b="1" dirty="0">
                <a:solidFill>
                  <a:schemeClr val="tx1"/>
                </a:solidFill>
              </a:rPr>
              <a:t>1</a:t>
            </a:r>
            <a:r>
              <a:rPr lang="ko-KR" altLang="en-US" sz="1200" b="1" dirty="0">
                <a:solidFill>
                  <a:schemeClr val="tx1"/>
                </a:solidFill>
              </a:rPr>
              <a:t>길 </a:t>
            </a:r>
            <a:r>
              <a:rPr lang="en-US" altLang="ko-KR" sz="1200" b="1" dirty="0">
                <a:solidFill>
                  <a:schemeClr val="tx1"/>
                </a:solidFill>
              </a:rPr>
              <a:t>50)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신촌 </a:t>
            </a:r>
            <a:r>
              <a:rPr lang="ko-KR" altLang="en-US" sz="1200" b="1" dirty="0" err="1">
                <a:solidFill>
                  <a:schemeClr val="tx1"/>
                </a:solidFill>
              </a:rPr>
              <a:t>푸르지오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103</a:t>
            </a:r>
            <a:r>
              <a:rPr lang="ko-KR" altLang="en-US" sz="1200" b="1" dirty="0">
                <a:solidFill>
                  <a:schemeClr val="tx1"/>
                </a:solidFill>
              </a:rPr>
              <a:t>동</a:t>
            </a:r>
            <a:r>
              <a:rPr lang="en-US" altLang="ko-KR" sz="1200" b="1" dirty="0">
                <a:solidFill>
                  <a:schemeClr val="tx1"/>
                </a:solidFill>
              </a:rPr>
              <a:t>1501</a:t>
            </a:r>
            <a:r>
              <a:rPr lang="ko-KR" altLang="en-US" sz="1200" b="1" dirty="0">
                <a:solidFill>
                  <a:schemeClr val="tx1"/>
                </a:solidFill>
              </a:rPr>
              <a:t>호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출입시</a:t>
            </a:r>
            <a:r>
              <a:rPr lang="ko-KR" altLang="en-US" sz="1200" b="1" dirty="0">
                <a:solidFill>
                  <a:schemeClr val="tx1"/>
                </a:solidFill>
              </a:rPr>
              <a:t> 주차장 안 우측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  <a:endParaRPr lang="ko-KR" altLang="en-US" sz="1200" b="1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6ADD5B2-16C1-9E56-6236-B35C03D67F16}"/>
              </a:ext>
            </a:extLst>
          </p:cNvPr>
          <p:cNvSpPr/>
          <p:nvPr/>
        </p:nvSpPr>
        <p:spPr>
          <a:xfrm>
            <a:off x="9907165" y="2618505"/>
            <a:ext cx="1948873" cy="3043381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chemeClr val="tx1"/>
                </a:solidFill>
              </a:rPr>
              <a:t>공통사항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지정된 엘리베이터 만 사용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좌측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chemeClr val="tx1"/>
                </a:solidFill>
              </a:rPr>
              <a:t>체크사항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기존 에어컨 배관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사용여부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에어컨 기기 </a:t>
            </a:r>
            <a:r>
              <a:rPr lang="ko-KR" altLang="en-US" sz="1200" b="1" dirty="0" err="1">
                <a:solidFill>
                  <a:schemeClr val="tx1"/>
                </a:solidFill>
              </a:rPr>
              <a:t>타공시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높이 확인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기존 실외기실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배관라인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위치 확인후 협의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전기선 선로 확인 및 증설여부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496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8FF8-6878-3527-0045-0927FC56D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8">
            <a:extLst>
              <a:ext uri="{FF2B5EF4-FFF2-40B4-BE49-F238E27FC236}">
                <a16:creationId xmlns:a16="http://schemas.microsoft.com/office/drawing/2014/main" id="{827744FB-7F28-CE75-68A3-FA8FAA597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5784" y="-55110"/>
            <a:ext cx="8374888" cy="68393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286275-1AAB-6400-D05D-419F4DAD7E85}"/>
              </a:ext>
            </a:extLst>
          </p:cNvPr>
          <p:cNvSpPr txBox="1"/>
          <p:nvPr/>
        </p:nvSpPr>
        <p:spPr>
          <a:xfrm>
            <a:off x="355784" y="583108"/>
            <a:ext cx="1311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&lt;</a:t>
            </a:r>
            <a:r>
              <a:rPr lang="ko-KR" altLang="en-US" sz="1800" b="1" dirty="0">
                <a:solidFill>
                  <a:schemeClr val="tx1"/>
                </a:solidFill>
              </a:rPr>
              <a:t>전기</a:t>
            </a:r>
            <a:r>
              <a:rPr lang="en-US" altLang="ko-KR" sz="1800" b="1" dirty="0">
                <a:solidFill>
                  <a:schemeClr val="tx1"/>
                </a:solidFill>
              </a:rPr>
              <a:t>&gt;</a:t>
            </a:r>
            <a:endParaRPr lang="ko-KR" altLang="en-US" sz="1800" b="1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6391B94-7E42-3EC8-CB24-7DEDA9A0D22E}"/>
              </a:ext>
            </a:extLst>
          </p:cNvPr>
          <p:cNvSpPr/>
          <p:nvPr/>
        </p:nvSpPr>
        <p:spPr>
          <a:xfrm>
            <a:off x="3770744" y="4584696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4D9CF2D-5B03-A558-85AE-ACCD5923151D}"/>
              </a:ext>
            </a:extLst>
          </p:cNvPr>
          <p:cNvSpPr/>
          <p:nvPr/>
        </p:nvSpPr>
        <p:spPr>
          <a:xfrm>
            <a:off x="3770743" y="5093857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D680652-6D71-4865-EB6F-3992A189A1E4}"/>
              </a:ext>
            </a:extLst>
          </p:cNvPr>
          <p:cNvSpPr/>
          <p:nvPr/>
        </p:nvSpPr>
        <p:spPr>
          <a:xfrm>
            <a:off x="3758575" y="5653804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92D2873-60B3-9CC3-9251-E7A629A05585}"/>
              </a:ext>
            </a:extLst>
          </p:cNvPr>
          <p:cNvSpPr/>
          <p:nvPr/>
        </p:nvSpPr>
        <p:spPr>
          <a:xfrm>
            <a:off x="5716733" y="4533986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7DB8AA1-DCE3-B347-E8A8-45075BF59318}"/>
              </a:ext>
            </a:extLst>
          </p:cNvPr>
          <p:cNvSpPr/>
          <p:nvPr/>
        </p:nvSpPr>
        <p:spPr>
          <a:xfrm>
            <a:off x="5704600" y="5037280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250AE48-68D5-CC97-CF09-8D525308562E}"/>
              </a:ext>
            </a:extLst>
          </p:cNvPr>
          <p:cNvSpPr/>
          <p:nvPr/>
        </p:nvSpPr>
        <p:spPr>
          <a:xfrm>
            <a:off x="5716732" y="5644328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4014723-0D27-FB0A-C83B-D6756F542E2C}"/>
              </a:ext>
            </a:extLst>
          </p:cNvPr>
          <p:cNvSpPr/>
          <p:nvPr/>
        </p:nvSpPr>
        <p:spPr>
          <a:xfrm>
            <a:off x="5269339" y="766622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DD7699E-3400-5C29-C79A-007DE4294532}"/>
              </a:ext>
            </a:extLst>
          </p:cNvPr>
          <p:cNvSpPr/>
          <p:nvPr/>
        </p:nvSpPr>
        <p:spPr>
          <a:xfrm>
            <a:off x="5564906" y="766626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606701F-07BF-ED96-6BB4-DAC787963C6F}"/>
              </a:ext>
            </a:extLst>
          </p:cNvPr>
          <p:cNvSpPr/>
          <p:nvPr/>
        </p:nvSpPr>
        <p:spPr>
          <a:xfrm>
            <a:off x="5408474" y="1250372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560586A-42C4-0104-EA32-C8A2C5C51D8A}"/>
              </a:ext>
            </a:extLst>
          </p:cNvPr>
          <p:cNvSpPr/>
          <p:nvPr/>
        </p:nvSpPr>
        <p:spPr>
          <a:xfrm>
            <a:off x="5401833" y="1831285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5F18E39-58F6-2A1D-72C4-7D0907F942A2}"/>
              </a:ext>
            </a:extLst>
          </p:cNvPr>
          <p:cNvSpPr/>
          <p:nvPr/>
        </p:nvSpPr>
        <p:spPr>
          <a:xfrm>
            <a:off x="5395573" y="2328545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FFAB3D2-819F-6285-A0F5-16C49703A0E8}"/>
              </a:ext>
            </a:extLst>
          </p:cNvPr>
          <p:cNvSpPr/>
          <p:nvPr/>
        </p:nvSpPr>
        <p:spPr>
          <a:xfrm>
            <a:off x="5395573" y="3090227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F2A3E95-82B6-B621-79B9-3B08C99794CD}"/>
              </a:ext>
            </a:extLst>
          </p:cNvPr>
          <p:cNvSpPr/>
          <p:nvPr/>
        </p:nvSpPr>
        <p:spPr>
          <a:xfrm>
            <a:off x="4440954" y="2191989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84BCD5C7-F657-489D-82D1-8AFCE2E1B570}"/>
              </a:ext>
            </a:extLst>
          </p:cNvPr>
          <p:cNvSpPr/>
          <p:nvPr/>
        </p:nvSpPr>
        <p:spPr>
          <a:xfrm>
            <a:off x="4891790" y="2194795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14B1C82-4569-9CDC-FB23-5E6AFCFC6566}"/>
              </a:ext>
            </a:extLst>
          </p:cNvPr>
          <p:cNvSpPr/>
          <p:nvPr/>
        </p:nvSpPr>
        <p:spPr>
          <a:xfrm>
            <a:off x="9711485" y="960586"/>
            <a:ext cx="1993311" cy="1473200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서대문구 북아현동 </a:t>
            </a:r>
            <a:r>
              <a:rPr lang="en-US" altLang="ko-KR" sz="1200" b="1" dirty="0">
                <a:solidFill>
                  <a:schemeClr val="tx1"/>
                </a:solidFill>
              </a:rPr>
              <a:t>1011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북아현로</a:t>
            </a:r>
            <a:r>
              <a:rPr lang="en-US" altLang="ko-KR" sz="1200" b="1" dirty="0">
                <a:solidFill>
                  <a:schemeClr val="tx1"/>
                </a:solidFill>
              </a:rPr>
              <a:t>1</a:t>
            </a:r>
            <a:r>
              <a:rPr lang="ko-KR" altLang="en-US" sz="1200" b="1" dirty="0">
                <a:solidFill>
                  <a:schemeClr val="tx1"/>
                </a:solidFill>
              </a:rPr>
              <a:t>길 </a:t>
            </a:r>
            <a:r>
              <a:rPr lang="en-US" altLang="ko-KR" sz="1200" b="1" dirty="0">
                <a:solidFill>
                  <a:schemeClr val="tx1"/>
                </a:solidFill>
              </a:rPr>
              <a:t>50)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신촌 </a:t>
            </a:r>
            <a:r>
              <a:rPr lang="ko-KR" altLang="en-US" sz="1200" b="1" dirty="0" err="1">
                <a:solidFill>
                  <a:schemeClr val="tx1"/>
                </a:solidFill>
              </a:rPr>
              <a:t>푸르지오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103</a:t>
            </a:r>
            <a:r>
              <a:rPr lang="ko-KR" altLang="en-US" sz="1200" b="1" dirty="0">
                <a:solidFill>
                  <a:schemeClr val="tx1"/>
                </a:solidFill>
              </a:rPr>
              <a:t>동</a:t>
            </a:r>
            <a:r>
              <a:rPr lang="en-US" altLang="ko-KR" sz="1200" b="1" dirty="0">
                <a:solidFill>
                  <a:schemeClr val="tx1"/>
                </a:solidFill>
              </a:rPr>
              <a:t>1501</a:t>
            </a:r>
            <a:r>
              <a:rPr lang="ko-KR" altLang="en-US" sz="1200" b="1" dirty="0">
                <a:solidFill>
                  <a:schemeClr val="tx1"/>
                </a:solidFill>
              </a:rPr>
              <a:t>호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출입시</a:t>
            </a:r>
            <a:r>
              <a:rPr lang="ko-KR" altLang="en-US" sz="1200" b="1" dirty="0">
                <a:solidFill>
                  <a:schemeClr val="tx1"/>
                </a:solidFill>
              </a:rPr>
              <a:t> 주차장 안 우측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  <a:endParaRPr lang="ko-KR" altLang="en-US" sz="1200" b="1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3694083-3946-C3B8-487A-711A8251B64B}"/>
              </a:ext>
            </a:extLst>
          </p:cNvPr>
          <p:cNvSpPr/>
          <p:nvPr/>
        </p:nvSpPr>
        <p:spPr>
          <a:xfrm>
            <a:off x="9755923" y="2618505"/>
            <a:ext cx="2007755" cy="3948550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chemeClr val="tx1"/>
                </a:solidFill>
              </a:rPr>
              <a:t>공통사항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지정된 엘리베이터 만 사용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좌측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chemeClr val="tx1"/>
                </a:solidFill>
              </a:rPr>
              <a:t>체크사항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매입등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</a:rPr>
              <a:t>연장시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기존 </a:t>
            </a:r>
            <a:r>
              <a:rPr lang="ko-KR" altLang="en-US" sz="1200" b="1" dirty="0" err="1">
                <a:solidFill>
                  <a:schemeClr val="tx1"/>
                </a:solidFill>
              </a:rPr>
              <a:t>매입등과</a:t>
            </a:r>
            <a:r>
              <a:rPr lang="ko-KR" altLang="en-US" sz="1200" b="1" dirty="0">
                <a:solidFill>
                  <a:schemeClr val="tx1"/>
                </a:solidFill>
              </a:rPr>
              <a:t> 연결여부 확인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램프</a:t>
            </a:r>
            <a:r>
              <a:rPr lang="en-US" altLang="ko-KR" sz="1200" b="1" dirty="0">
                <a:solidFill>
                  <a:schemeClr val="tx1"/>
                </a:solidFill>
              </a:rPr>
              <a:t>5700K)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전자스위치 </a:t>
            </a:r>
            <a:r>
              <a:rPr lang="ko-KR" altLang="en-US" sz="1200" b="1" dirty="0" err="1">
                <a:solidFill>
                  <a:schemeClr val="tx1"/>
                </a:solidFill>
              </a:rPr>
              <a:t>연결시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잔상현상 체크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스위치 분리 체크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rgbClr val="FF0000"/>
                </a:solidFill>
              </a:rPr>
              <a:t>선로 연장 및 </a:t>
            </a:r>
            <a:r>
              <a:rPr lang="ko-KR" altLang="en-US" sz="1200" b="1" dirty="0" err="1">
                <a:solidFill>
                  <a:srgbClr val="FF0000"/>
                </a:solidFill>
              </a:rPr>
              <a:t>이설시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200" b="1" dirty="0">
                <a:solidFill>
                  <a:srgbClr val="FF0000"/>
                </a:solidFill>
              </a:rPr>
              <a:t>난방 배관도 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200" b="1" dirty="0">
                <a:solidFill>
                  <a:srgbClr val="FF0000"/>
                </a:solidFill>
              </a:rPr>
              <a:t>반드시 확인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9A6BAC5-C5EE-6DD2-6B52-EA0A6B71242B}"/>
              </a:ext>
            </a:extLst>
          </p:cNvPr>
          <p:cNvSpPr/>
          <p:nvPr/>
        </p:nvSpPr>
        <p:spPr>
          <a:xfrm>
            <a:off x="4089006" y="3364344"/>
            <a:ext cx="1220732" cy="401782"/>
          </a:xfrm>
          <a:prstGeom prst="round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전기 이설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F8B0C73-03FA-BF0A-6177-42C7995DD1C7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5691252" y="1485009"/>
            <a:ext cx="404748" cy="9339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타원 39">
            <a:extLst>
              <a:ext uri="{FF2B5EF4-FFF2-40B4-BE49-F238E27FC236}">
                <a16:creationId xmlns:a16="http://schemas.microsoft.com/office/drawing/2014/main" id="{5D492224-6FB8-5794-0534-6723BE569CA7}"/>
              </a:ext>
            </a:extLst>
          </p:cNvPr>
          <p:cNvSpPr/>
          <p:nvPr/>
        </p:nvSpPr>
        <p:spPr>
          <a:xfrm>
            <a:off x="5490070" y="2418967"/>
            <a:ext cx="402364" cy="38919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CEF313B-CD20-C1D4-1E30-EB59B0D16181}"/>
              </a:ext>
            </a:extLst>
          </p:cNvPr>
          <p:cNvSpPr/>
          <p:nvPr/>
        </p:nvSpPr>
        <p:spPr>
          <a:xfrm>
            <a:off x="6173273" y="492009"/>
            <a:ext cx="2073560" cy="1159165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외부 기존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아일랜드 위치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단독 전기확인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인덕션</a:t>
            </a:r>
            <a:r>
              <a:rPr lang="ko-KR" altLang="en-US" sz="1100" b="1" dirty="0">
                <a:solidFill>
                  <a:schemeClr val="tx1"/>
                </a:solidFill>
              </a:rPr>
              <a:t> 및 </a:t>
            </a:r>
            <a:r>
              <a:rPr lang="ko-KR" altLang="en-US" sz="1100" b="1" dirty="0" err="1">
                <a:solidFill>
                  <a:schemeClr val="tx1"/>
                </a:solidFill>
              </a:rPr>
              <a:t>식세기</a:t>
            </a:r>
            <a:r>
              <a:rPr lang="ko-KR" altLang="en-US" sz="1100" b="1" dirty="0">
                <a:solidFill>
                  <a:schemeClr val="tx1"/>
                </a:solidFill>
              </a:rPr>
              <a:t> 위치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이동</a:t>
            </a:r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바닥 난방 확인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9AAF572-6A8B-E93D-BB45-0DED0D9999B6}"/>
              </a:ext>
            </a:extLst>
          </p:cNvPr>
          <p:cNvSpPr/>
          <p:nvPr/>
        </p:nvSpPr>
        <p:spPr>
          <a:xfrm>
            <a:off x="3758575" y="3620986"/>
            <a:ext cx="2073560" cy="1159165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기존 벽면 </a:t>
            </a:r>
            <a:r>
              <a:rPr lang="ko-KR" altLang="en-US" sz="1100" b="1" dirty="0" err="1">
                <a:solidFill>
                  <a:schemeClr val="tx1"/>
                </a:solidFill>
              </a:rPr>
              <a:t>철거후</a:t>
            </a:r>
            <a:r>
              <a:rPr lang="ko-KR" altLang="en-US" sz="1100" b="1" dirty="0">
                <a:solidFill>
                  <a:schemeClr val="tx1"/>
                </a:solidFill>
              </a:rPr>
              <a:t> 좌측벽으로 전기 이설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전자스위치</a:t>
            </a:r>
            <a:r>
              <a:rPr lang="en-US" altLang="ko-KR" sz="1100" b="1" dirty="0">
                <a:solidFill>
                  <a:schemeClr val="tx1"/>
                </a:solidFill>
              </a:rPr>
              <a:t>,</a:t>
            </a:r>
            <a:r>
              <a:rPr lang="ko-KR" altLang="en-US" sz="1100" b="1" dirty="0">
                <a:solidFill>
                  <a:schemeClr val="tx1"/>
                </a:solidFill>
              </a:rPr>
              <a:t>온도조절기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</a:rPr>
              <a:t>바닥 난방 확인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EE298E6F-AEE2-DEA5-5512-939D02827442}"/>
              </a:ext>
            </a:extLst>
          </p:cNvPr>
          <p:cNvSpPr/>
          <p:nvPr/>
        </p:nvSpPr>
        <p:spPr>
          <a:xfrm>
            <a:off x="355784" y="3766126"/>
            <a:ext cx="761816" cy="51723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분전함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3A904D0C-E922-C78E-B657-6985A7FB3E02}"/>
              </a:ext>
            </a:extLst>
          </p:cNvPr>
          <p:cNvCxnSpPr>
            <a:cxnSpLocks/>
          </p:cNvCxnSpPr>
          <p:nvPr/>
        </p:nvCxnSpPr>
        <p:spPr>
          <a:xfrm>
            <a:off x="591311" y="4284604"/>
            <a:ext cx="0" cy="4955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D043708-F8E0-80C4-A91C-BA57891036F7}"/>
              </a:ext>
            </a:extLst>
          </p:cNvPr>
          <p:cNvSpPr/>
          <p:nvPr/>
        </p:nvSpPr>
        <p:spPr>
          <a:xfrm>
            <a:off x="51380" y="4671292"/>
            <a:ext cx="1333144" cy="1159165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기존 분전함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단독전기 사용 여부 및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위치 확인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유리 주의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149A870-2BDD-A025-0CFD-B9902F080417}"/>
              </a:ext>
            </a:extLst>
          </p:cNvPr>
          <p:cNvSpPr/>
          <p:nvPr/>
        </p:nvSpPr>
        <p:spPr>
          <a:xfrm>
            <a:off x="6173273" y="1508012"/>
            <a:ext cx="1220732" cy="401782"/>
          </a:xfrm>
          <a:prstGeom prst="round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전기 이설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564A7BE-4C16-A7E5-1E10-7D9B58D75D93}"/>
              </a:ext>
            </a:extLst>
          </p:cNvPr>
          <p:cNvSpPr/>
          <p:nvPr/>
        </p:nvSpPr>
        <p:spPr>
          <a:xfrm>
            <a:off x="4133394" y="1657281"/>
            <a:ext cx="1014628" cy="401782"/>
          </a:xfrm>
          <a:prstGeom prst="round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콘센트 이설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1BB1338-9EBD-3DDD-3DE3-BCBB885F7474}"/>
              </a:ext>
            </a:extLst>
          </p:cNvPr>
          <p:cNvCxnSpPr/>
          <p:nvPr/>
        </p:nvCxnSpPr>
        <p:spPr>
          <a:xfrm>
            <a:off x="3894820" y="4722079"/>
            <a:ext cx="0" cy="10887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EED8BBE-DEEF-1294-6EB2-401E70FEDAF4}"/>
              </a:ext>
            </a:extLst>
          </p:cNvPr>
          <p:cNvCxnSpPr/>
          <p:nvPr/>
        </p:nvCxnSpPr>
        <p:spPr>
          <a:xfrm>
            <a:off x="5716732" y="4649926"/>
            <a:ext cx="0" cy="10887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AADDEE36-7AB7-5D32-F92D-3A459B5818DF}"/>
              </a:ext>
            </a:extLst>
          </p:cNvPr>
          <p:cNvCxnSpPr>
            <a:cxnSpLocks/>
          </p:cNvCxnSpPr>
          <p:nvPr/>
        </p:nvCxnSpPr>
        <p:spPr>
          <a:xfrm flipH="1" flipV="1">
            <a:off x="3928959" y="5801346"/>
            <a:ext cx="1787773" cy="94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110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내용 개체 틀 8">
            <a:extLst>
              <a:ext uri="{FF2B5EF4-FFF2-40B4-BE49-F238E27FC236}">
                <a16:creationId xmlns:a16="http://schemas.microsoft.com/office/drawing/2014/main" id="{9A3D17D6-234D-CEA3-5D48-28722B938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5784" y="-55110"/>
            <a:ext cx="8374888" cy="6839335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0C8933A-A24F-CCEB-AFE8-29599D5B0C2B}"/>
              </a:ext>
            </a:extLst>
          </p:cNvPr>
          <p:cNvSpPr/>
          <p:nvPr/>
        </p:nvSpPr>
        <p:spPr>
          <a:xfrm>
            <a:off x="5033818" y="2144788"/>
            <a:ext cx="1062182" cy="9795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우물천장 메꿈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기존 </a:t>
            </a:r>
            <a:r>
              <a:rPr lang="ko-KR" altLang="en-US" sz="1200" b="1" dirty="0" err="1">
                <a:solidFill>
                  <a:schemeClr val="tx1"/>
                </a:solidFill>
              </a:rPr>
              <a:t>몰딩</a:t>
            </a:r>
            <a:r>
              <a:rPr lang="ko-KR" altLang="en-US" sz="1200" b="1" dirty="0">
                <a:solidFill>
                  <a:schemeClr val="tx1"/>
                </a:solidFill>
              </a:rPr>
              <a:t> 제거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192C100-4BFD-72A3-16BE-AD08570711BE}"/>
              </a:ext>
            </a:extLst>
          </p:cNvPr>
          <p:cNvSpPr/>
          <p:nvPr/>
        </p:nvSpPr>
        <p:spPr>
          <a:xfrm>
            <a:off x="3950853" y="2223654"/>
            <a:ext cx="72738" cy="37407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E16B553-EEF4-6575-CEF4-D07433BE167C}"/>
              </a:ext>
            </a:extLst>
          </p:cNvPr>
          <p:cNvSpPr/>
          <p:nvPr/>
        </p:nvSpPr>
        <p:spPr>
          <a:xfrm>
            <a:off x="4119418" y="1657280"/>
            <a:ext cx="725053" cy="1907955"/>
          </a:xfrm>
          <a:prstGeom prst="round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천장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몰딩</a:t>
            </a:r>
            <a:r>
              <a:rPr lang="ko-KR" altLang="en-US" sz="1100" dirty="0">
                <a:solidFill>
                  <a:schemeClr val="tx1"/>
                </a:solidFill>
              </a:rPr>
              <a:t> 이동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E5F20FF-B812-5C93-6249-1E03EE3B326D}"/>
              </a:ext>
            </a:extLst>
          </p:cNvPr>
          <p:cNvSpPr/>
          <p:nvPr/>
        </p:nvSpPr>
        <p:spPr>
          <a:xfrm>
            <a:off x="6097734" y="996847"/>
            <a:ext cx="330776" cy="2568388"/>
          </a:xfrm>
          <a:prstGeom prst="round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6F96FCA-9081-9227-DE39-4AB9C23776D6}"/>
              </a:ext>
            </a:extLst>
          </p:cNvPr>
          <p:cNvSpPr/>
          <p:nvPr/>
        </p:nvSpPr>
        <p:spPr>
          <a:xfrm>
            <a:off x="6341923" y="872835"/>
            <a:ext cx="2073560" cy="1159165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석고 </a:t>
            </a:r>
            <a:r>
              <a:rPr lang="ko-KR" altLang="en-US" sz="1100" b="1" dirty="0" err="1">
                <a:solidFill>
                  <a:schemeClr val="tx1"/>
                </a:solidFill>
              </a:rPr>
              <a:t>덧방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기존 타일 깨진 부위</a:t>
            </a:r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 err="1">
                <a:solidFill>
                  <a:schemeClr val="tx1"/>
                </a:solidFill>
              </a:rPr>
              <a:t>떡가배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B068712-51EB-6148-B41D-0319474F4DD0}"/>
              </a:ext>
            </a:extLst>
          </p:cNvPr>
          <p:cNvSpPr/>
          <p:nvPr/>
        </p:nvSpPr>
        <p:spPr>
          <a:xfrm>
            <a:off x="4940298" y="1350377"/>
            <a:ext cx="330776" cy="570787"/>
          </a:xfrm>
          <a:prstGeom prst="round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AC2C74C-97D8-CD8B-0714-B61C565AA5D5}"/>
              </a:ext>
            </a:extLst>
          </p:cNvPr>
          <p:cNvCxnSpPr>
            <a:cxnSpLocks/>
          </p:cNvCxnSpPr>
          <p:nvPr/>
        </p:nvCxnSpPr>
        <p:spPr>
          <a:xfrm>
            <a:off x="4023591" y="1052946"/>
            <a:ext cx="882899" cy="4108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95D5BB5-329B-F720-83D3-531E301A1B35}"/>
              </a:ext>
            </a:extLst>
          </p:cNvPr>
          <p:cNvSpPr/>
          <p:nvPr/>
        </p:nvSpPr>
        <p:spPr>
          <a:xfrm>
            <a:off x="2050473" y="238091"/>
            <a:ext cx="2192480" cy="1159165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주방도면 위치 우측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가벽</a:t>
            </a:r>
            <a:r>
              <a:rPr lang="ko-KR" altLang="en-US" sz="1100" b="1" dirty="0">
                <a:solidFill>
                  <a:schemeClr val="tx1"/>
                </a:solidFill>
              </a:rPr>
              <a:t> 설치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12T </a:t>
            </a:r>
            <a:r>
              <a:rPr lang="ko-KR" altLang="en-US" sz="1100" b="1" dirty="0">
                <a:solidFill>
                  <a:schemeClr val="tx1"/>
                </a:solidFill>
              </a:rPr>
              <a:t>양방</a:t>
            </a:r>
            <a:r>
              <a:rPr lang="en-US" altLang="ko-KR" sz="1100" b="1" dirty="0">
                <a:solidFill>
                  <a:schemeClr val="tx1"/>
                </a:solidFill>
              </a:rPr>
              <a:t>MD </a:t>
            </a:r>
            <a:r>
              <a:rPr lang="ko-KR" altLang="en-US" sz="1100" b="1" dirty="0">
                <a:solidFill>
                  <a:schemeClr val="tx1"/>
                </a:solidFill>
              </a:rPr>
              <a:t>또는 석고 마감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깊이 </a:t>
            </a:r>
            <a:r>
              <a:rPr lang="en-US" altLang="ko-KR" sz="1100" b="1" dirty="0">
                <a:solidFill>
                  <a:schemeClr val="tx1"/>
                </a:solidFill>
              </a:rPr>
              <a:t>700(</a:t>
            </a:r>
            <a:r>
              <a:rPr lang="ko-KR" altLang="en-US" sz="1100" b="1" dirty="0">
                <a:solidFill>
                  <a:schemeClr val="tx1"/>
                </a:solidFill>
              </a:rPr>
              <a:t>내경 상부 보강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113D4FA-E18E-2372-6523-E64CA1504354}"/>
              </a:ext>
            </a:extLst>
          </p:cNvPr>
          <p:cNvSpPr/>
          <p:nvPr/>
        </p:nvSpPr>
        <p:spPr>
          <a:xfrm>
            <a:off x="9665305" y="960586"/>
            <a:ext cx="1993311" cy="1473200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서대문구 북아현동 </a:t>
            </a:r>
            <a:r>
              <a:rPr lang="en-US" altLang="ko-KR" sz="1200" b="1" dirty="0">
                <a:solidFill>
                  <a:schemeClr val="tx1"/>
                </a:solidFill>
              </a:rPr>
              <a:t>1011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북아현로</a:t>
            </a:r>
            <a:r>
              <a:rPr lang="en-US" altLang="ko-KR" sz="1200" b="1" dirty="0">
                <a:solidFill>
                  <a:schemeClr val="tx1"/>
                </a:solidFill>
              </a:rPr>
              <a:t>1</a:t>
            </a:r>
            <a:r>
              <a:rPr lang="ko-KR" altLang="en-US" sz="1200" b="1" dirty="0">
                <a:solidFill>
                  <a:schemeClr val="tx1"/>
                </a:solidFill>
              </a:rPr>
              <a:t>길 </a:t>
            </a:r>
            <a:r>
              <a:rPr lang="en-US" altLang="ko-KR" sz="1200" b="1" dirty="0">
                <a:solidFill>
                  <a:schemeClr val="tx1"/>
                </a:solidFill>
              </a:rPr>
              <a:t>50)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신촌 </a:t>
            </a:r>
            <a:r>
              <a:rPr lang="ko-KR" altLang="en-US" sz="1200" b="1" dirty="0" err="1">
                <a:solidFill>
                  <a:schemeClr val="tx1"/>
                </a:solidFill>
              </a:rPr>
              <a:t>푸르지오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103</a:t>
            </a:r>
            <a:r>
              <a:rPr lang="ko-KR" altLang="en-US" sz="1200" b="1" dirty="0">
                <a:solidFill>
                  <a:schemeClr val="tx1"/>
                </a:solidFill>
              </a:rPr>
              <a:t>동</a:t>
            </a:r>
            <a:r>
              <a:rPr lang="en-US" altLang="ko-KR" sz="1200" b="1" dirty="0">
                <a:solidFill>
                  <a:schemeClr val="tx1"/>
                </a:solidFill>
              </a:rPr>
              <a:t>1501</a:t>
            </a:r>
            <a:r>
              <a:rPr lang="ko-KR" altLang="en-US" sz="1200" b="1" dirty="0">
                <a:solidFill>
                  <a:schemeClr val="tx1"/>
                </a:solidFill>
              </a:rPr>
              <a:t>호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출입시</a:t>
            </a:r>
            <a:r>
              <a:rPr lang="ko-KR" altLang="en-US" sz="1200" b="1" dirty="0">
                <a:solidFill>
                  <a:schemeClr val="tx1"/>
                </a:solidFill>
              </a:rPr>
              <a:t> 주차장 안 우측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  <a:endParaRPr lang="ko-KR" altLang="en-US" sz="1200" b="1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9511D48-9624-0A8A-D293-6B61BF3CE1EC}"/>
              </a:ext>
            </a:extLst>
          </p:cNvPr>
          <p:cNvSpPr/>
          <p:nvPr/>
        </p:nvSpPr>
        <p:spPr>
          <a:xfrm>
            <a:off x="9700507" y="2618505"/>
            <a:ext cx="2007755" cy="3948550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chemeClr val="tx1"/>
                </a:solidFill>
              </a:rPr>
              <a:t>공통사항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지정된 엘리베이터 만 사용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좌측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chemeClr val="tx1"/>
                </a:solidFill>
              </a:rPr>
              <a:t>체크사항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에어컨 공정에서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타공시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기존 에어컨 배관라인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또는 신규 배관라인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점검구</a:t>
            </a:r>
            <a:r>
              <a:rPr lang="ko-KR" altLang="en-US" sz="1200" b="1" dirty="0">
                <a:solidFill>
                  <a:schemeClr val="tx1"/>
                </a:solidFill>
              </a:rPr>
              <a:t> 보강작업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주방타일 부위는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확인후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철거후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</a:rPr>
              <a:t>덧방</a:t>
            </a:r>
            <a:r>
              <a:rPr lang="ko-KR" altLang="en-US" sz="1200" b="1" dirty="0">
                <a:solidFill>
                  <a:schemeClr val="tx1"/>
                </a:solidFill>
              </a:rPr>
              <a:t> 또는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레벨 맞는 상태로 평탄화 작업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 err="1">
                <a:solidFill>
                  <a:schemeClr val="tx1"/>
                </a:solidFill>
              </a:rPr>
              <a:t>천장몰딩</a:t>
            </a:r>
            <a:r>
              <a:rPr lang="ko-KR" altLang="en-US" sz="1200" b="1" dirty="0">
                <a:solidFill>
                  <a:schemeClr val="tx1"/>
                </a:solidFill>
              </a:rPr>
              <a:t> 재사용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C906172-2FC8-FD4E-E580-C3FA615F6EFD}"/>
              </a:ext>
            </a:extLst>
          </p:cNvPr>
          <p:cNvSpPr/>
          <p:nvPr/>
        </p:nvSpPr>
        <p:spPr>
          <a:xfrm>
            <a:off x="3794986" y="5144654"/>
            <a:ext cx="2187098" cy="1148059"/>
          </a:xfrm>
          <a:prstGeom prst="round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9A75B06-2C11-05E8-3AC6-DC3AAABFF8E3}"/>
              </a:ext>
            </a:extLst>
          </p:cNvPr>
          <p:cNvSpPr/>
          <p:nvPr/>
        </p:nvSpPr>
        <p:spPr>
          <a:xfrm>
            <a:off x="1573640" y="5318277"/>
            <a:ext cx="2098969" cy="785090"/>
          </a:xfrm>
          <a:prstGeom prst="round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4F18B04-D7A7-E9B3-C9C7-3AF53321E8B6}"/>
              </a:ext>
            </a:extLst>
          </p:cNvPr>
          <p:cNvSpPr/>
          <p:nvPr/>
        </p:nvSpPr>
        <p:spPr>
          <a:xfrm>
            <a:off x="6096000" y="4794172"/>
            <a:ext cx="2098969" cy="785090"/>
          </a:xfrm>
          <a:prstGeom prst="round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6500FAB-044D-9C17-F921-E74B09AE1C84}"/>
              </a:ext>
            </a:extLst>
          </p:cNvPr>
          <p:cNvSpPr/>
          <p:nvPr/>
        </p:nvSpPr>
        <p:spPr>
          <a:xfrm>
            <a:off x="2665259" y="1258385"/>
            <a:ext cx="1406245" cy="3886269"/>
          </a:xfrm>
          <a:prstGeom prst="round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5FF650-F192-FEFC-0DD6-062BB1AD2169}"/>
              </a:ext>
            </a:extLst>
          </p:cNvPr>
          <p:cNvSpPr txBox="1"/>
          <p:nvPr/>
        </p:nvSpPr>
        <p:spPr>
          <a:xfrm>
            <a:off x="355784" y="583108"/>
            <a:ext cx="1311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&lt;</a:t>
            </a:r>
            <a:r>
              <a:rPr lang="ko-KR" altLang="en-US" sz="1800" b="1" dirty="0">
                <a:solidFill>
                  <a:schemeClr val="tx1"/>
                </a:solidFill>
              </a:rPr>
              <a:t>목공</a:t>
            </a:r>
            <a:r>
              <a:rPr lang="en-US" altLang="ko-KR" sz="1800" b="1" dirty="0">
                <a:solidFill>
                  <a:schemeClr val="tx1"/>
                </a:solidFill>
              </a:rPr>
              <a:t>&gt;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836188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5B5E-CF3D-ABAB-2F9F-DEEA13D26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내용 개체 틀 8">
            <a:extLst>
              <a:ext uri="{FF2B5EF4-FFF2-40B4-BE49-F238E27FC236}">
                <a16:creationId xmlns:a16="http://schemas.microsoft.com/office/drawing/2014/main" id="{219D4365-4BD2-27E3-DF78-E3856BC27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5784" y="-55110"/>
            <a:ext cx="8374888" cy="6839335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A9B81EB6-8792-0FE3-131F-89D8E1A5EC27}"/>
              </a:ext>
            </a:extLst>
          </p:cNvPr>
          <p:cNvSpPr/>
          <p:nvPr/>
        </p:nvSpPr>
        <p:spPr>
          <a:xfrm>
            <a:off x="3950853" y="2223654"/>
            <a:ext cx="72738" cy="37407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FB588CA-FD2C-954B-1BF9-3AA1ADF61381}"/>
              </a:ext>
            </a:extLst>
          </p:cNvPr>
          <p:cNvSpPr/>
          <p:nvPr/>
        </p:nvSpPr>
        <p:spPr>
          <a:xfrm>
            <a:off x="9665305" y="960586"/>
            <a:ext cx="1993311" cy="1473200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서대문구 북아현동 </a:t>
            </a:r>
            <a:r>
              <a:rPr lang="en-US" altLang="ko-KR" sz="1200" b="1" dirty="0">
                <a:solidFill>
                  <a:schemeClr val="tx1"/>
                </a:solidFill>
              </a:rPr>
              <a:t>1011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북아현로</a:t>
            </a:r>
            <a:r>
              <a:rPr lang="en-US" altLang="ko-KR" sz="1200" b="1" dirty="0">
                <a:solidFill>
                  <a:schemeClr val="tx1"/>
                </a:solidFill>
              </a:rPr>
              <a:t>1</a:t>
            </a:r>
            <a:r>
              <a:rPr lang="ko-KR" altLang="en-US" sz="1200" b="1" dirty="0">
                <a:solidFill>
                  <a:schemeClr val="tx1"/>
                </a:solidFill>
              </a:rPr>
              <a:t>길 </a:t>
            </a:r>
            <a:r>
              <a:rPr lang="en-US" altLang="ko-KR" sz="1200" b="1" dirty="0">
                <a:solidFill>
                  <a:schemeClr val="tx1"/>
                </a:solidFill>
              </a:rPr>
              <a:t>50)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신촌 </a:t>
            </a:r>
            <a:r>
              <a:rPr lang="ko-KR" altLang="en-US" sz="1200" b="1" dirty="0" err="1">
                <a:solidFill>
                  <a:schemeClr val="tx1"/>
                </a:solidFill>
              </a:rPr>
              <a:t>푸르지오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103</a:t>
            </a:r>
            <a:r>
              <a:rPr lang="ko-KR" altLang="en-US" sz="1200" b="1" dirty="0">
                <a:solidFill>
                  <a:schemeClr val="tx1"/>
                </a:solidFill>
              </a:rPr>
              <a:t>동</a:t>
            </a:r>
            <a:r>
              <a:rPr lang="en-US" altLang="ko-KR" sz="1200" b="1" dirty="0">
                <a:solidFill>
                  <a:schemeClr val="tx1"/>
                </a:solidFill>
              </a:rPr>
              <a:t>1501</a:t>
            </a:r>
            <a:r>
              <a:rPr lang="ko-KR" altLang="en-US" sz="1200" b="1" dirty="0">
                <a:solidFill>
                  <a:schemeClr val="tx1"/>
                </a:solidFill>
              </a:rPr>
              <a:t>호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출입시</a:t>
            </a:r>
            <a:r>
              <a:rPr lang="ko-KR" altLang="en-US" sz="1200" b="1" dirty="0">
                <a:solidFill>
                  <a:schemeClr val="tx1"/>
                </a:solidFill>
              </a:rPr>
              <a:t> 주차장 안 우측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  <a:endParaRPr lang="ko-KR" altLang="en-US" sz="1200" b="1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884914D-536C-E938-4A52-30FBAC62A6AD}"/>
              </a:ext>
            </a:extLst>
          </p:cNvPr>
          <p:cNvSpPr/>
          <p:nvPr/>
        </p:nvSpPr>
        <p:spPr>
          <a:xfrm>
            <a:off x="8894619" y="2618505"/>
            <a:ext cx="2813644" cy="3948550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chemeClr val="tx1"/>
                </a:solidFill>
              </a:rPr>
              <a:t>공통사항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지정된 엘리베이터 만 사용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좌측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chemeClr val="tx1"/>
                </a:solidFill>
              </a:rPr>
              <a:t>체크사항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기존 발코니 상태가 좋지 않음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결로와 곰팡이가 많이 있어서 최대한 지우고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</a:rPr>
              <a:t>밑작업</a:t>
            </a:r>
            <a:r>
              <a:rPr lang="ko-KR" altLang="en-US" sz="1200" b="1" dirty="0">
                <a:solidFill>
                  <a:schemeClr val="tx1"/>
                </a:solidFill>
              </a:rPr>
              <a:t> 진행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색상 </a:t>
            </a:r>
            <a:r>
              <a:rPr lang="ko-KR" altLang="en-US" sz="1200" b="1" dirty="0" err="1">
                <a:solidFill>
                  <a:schemeClr val="tx1"/>
                </a:solidFill>
              </a:rPr>
              <a:t>진주색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걸레받이 유성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연한 그레이 요청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내부 실리콘 부위도 같이 </a:t>
            </a:r>
            <a:r>
              <a:rPr lang="ko-KR" altLang="en-US" sz="1200" b="1" dirty="0" err="1">
                <a:solidFill>
                  <a:schemeClr val="tx1"/>
                </a:solidFill>
              </a:rPr>
              <a:t>뿌릴것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chemeClr val="tx1"/>
                </a:solidFill>
              </a:rPr>
              <a:t>타일 재사용</a:t>
            </a:r>
            <a:r>
              <a:rPr lang="en-US" altLang="ko-KR" sz="1200" b="1" dirty="0">
                <a:solidFill>
                  <a:schemeClr val="tx1"/>
                </a:solidFill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</a:rPr>
              <a:t>샤시 재사용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리폼</a:t>
            </a:r>
            <a:r>
              <a:rPr lang="en-US" altLang="ko-KR" sz="1200" b="1" dirty="0">
                <a:solidFill>
                  <a:schemeClr val="tx1"/>
                </a:solidFill>
              </a:rPr>
              <a:t>X)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chemeClr val="tx1"/>
                </a:solidFill>
              </a:rPr>
              <a:t>현관진입시 문턱과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유리 주의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0D60C8-B58D-E5AD-AA27-015E58A7F4F4}"/>
              </a:ext>
            </a:extLst>
          </p:cNvPr>
          <p:cNvSpPr txBox="1"/>
          <p:nvPr/>
        </p:nvSpPr>
        <p:spPr>
          <a:xfrm>
            <a:off x="355783" y="583108"/>
            <a:ext cx="1454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>
                <a:solidFill>
                  <a:schemeClr val="tx1"/>
                </a:solidFill>
              </a:rPr>
              <a:t>&lt;</a:t>
            </a:r>
            <a:r>
              <a:rPr lang="ko-KR" altLang="en-US" sz="1800" b="1" dirty="0">
                <a:solidFill>
                  <a:schemeClr val="tx1"/>
                </a:solidFill>
              </a:rPr>
              <a:t>탄성코트</a:t>
            </a:r>
            <a:r>
              <a:rPr lang="en-US" altLang="ko-KR" sz="1800" b="1" dirty="0">
                <a:solidFill>
                  <a:schemeClr val="tx1"/>
                </a:solidFill>
              </a:rPr>
              <a:t>&gt;</a:t>
            </a:r>
            <a:endParaRPr lang="ko-KR" altLang="en-US" sz="1800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AB3C02C-64D0-EA73-6F86-3EAC5E1F25A8}"/>
              </a:ext>
            </a:extLst>
          </p:cNvPr>
          <p:cNvSpPr/>
          <p:nvPr/>
        </p:nvSpPr>
        <p:spPr>
          <a:xfrm>
            <a:off x="1351968" y="1060313"/>
            <a:ext cx="1454544" cy="785090"/>
          </a:xfrm>
          <a:prstGeom prst="round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1169A5D-7EB4-D685-0C57-38C3D4D3B2E9}"/>
              </a:ext>
            </a:extLst>
          </p:cNvPr>
          <p:cNvSpPr/>
          <p:nvPr/>
        </p:nvSpPr>
        <p:spPr>
          <a:xfrm>
            <a:off x="3987222" y="492276"/>
            <a:ext cx="1203614" cy="1188742"/>
          </a:xfrm>
          <a:prstGeom prst="round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7E70B9F-B9C0-84CC-5796-B2E53B28DDCA}"/>
              </a:ext>
            </a:extLst>
          </p:cNvPr>
          <p:cNvSpPr/>
          <p:nvPr/>
        </p:nvSpPr>
        <p:spPr>
          <a:xfrm>
            <a:off x="5959185" y="5404152"/>
            <a:ext cx="2399723" cy="1188742"/>
          </a:xfrm>
          <a:prstGeom prst="round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835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20473-128B-FE8A-3D2C-20F24166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B6AF529-6685-8036-ECA4-E5D3FAA4FCAB}"/>
              </a:ext>
            </a:extLst>
          </p:cNvPr>
          <p:cNvSpPr/>
          <p:nvPr/>
        </p:nvSpPr>
        <p:spPr>
          <a:xfrm>
            <a:off x="10125363" y="129309"/>
            <a:ext cx="1948873" cy="369454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경기도 수원시 영통구 </a:t>
            </a:r>
            <a:r>
              <a:rPr lang="ko-KR" altLang="en-US" sz="1200" b="1" dirty="0" err="1">
                <a:solidFill>
                  <a:schemeClr val="tx1"/>
                </a:solidFill>
              </a:rPr>
              <a:t>영통로</a:t>
            </a:r>
            <a:r>
              <a:rPr lang="en-US" altLang="ko-KR" sz="1200" b="1" dirty="0">
                <a:solidFill>
                  <a:schemeClr val="tx1"/>
                </a:solidFill>
              </a:rPr>
              <a:t>200</a:t>
            </a:r>
            <a:r>
              <a:rPr lang="ko-KR" altLang="en-US" sz="1200" b="1" dirty="0" err="1">
                <a:solidFill>
                  <a:schemeClr val="tx1"/>
                </a:solidFill>
              </a:rPr>
              <a:t>번길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156</a:t>
            </a:r>
          </a:p>
          <a:p>
            <a:pPr algn="ctr"/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방죽마을 영통 </a:t>
            </a:r>
            <a:r>
              <a:rPr lang="ko-KR" altLang="en-US" sz="1200" b="1" dirty="0" err="1">
                <a:solidFill>
                  <a:schemeClr val="tx1"/>
                </a:solidFill>
              </a:rPr>
              <a:t>뜨란채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1004</a:t>
            </a:r>
            <a:r>
              <a:rPr lang="ko-KR" altLang="en-US" sz="1200" b="1" dirty="0">
                <a:solidFill>
                  <a:schemeClr val="tx1"/>
                </a:solidFill>
              </a:rPr>
              <a:t>동 </a:t>
            </a:r>
            <a:r>
              <a:rPr lang="en-US" altLang="ko-KR" sz="1200" b="1" dirty="0">
                <a:solidFill>
                  <a:schemeClr val="tx1"/>
                </a:solidFill>
              </a:rPr>
              <a:t>302</a:t>
            </a:r>
            <a:r>
              <a:rPr lang="ko-KR" altLang="en-US" sz="1200" b="1" dirty="0">
                <a:solidFill>
                  <a:schemeClr val="tx1"/>
                </a:solidFill>
              </a:rPr>
              <a:t>호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정문 출입만 가능</a:t>
            </a:r>
            <a:r>
              <a:rPr lang="en-US" altLang="ko-KR" sz="1200" b="1" dirty="0">
                <a:solidFill>
                  <a:schemeClr val="tx1"/>
                </a:solidFill>
              </a:rPr>
              <a:t>/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출입문 들어가서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좌측길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1</a:t>
            </a:r>
            <a:r>
              <a:rPr lang="ko-KR" altLang="en-US" sz="1200" b="1" dirty="0">
                <a:solidFill>
                  <a:schemeClr val="tx1"/>
                </a:solidFill>
              </a:rPr>
              <a:t>층 </a:t>
            </a:r>
            <a:r>
              <a:rPr lang="en-US" altLang="ko-KR" sz="1200" b="1" dirty="0">
                <a:solidFill>
                  <a:schemeClr val="tx1"/>
                </a:solidFill>
              </a:rPr>
              <a:t>302 </a:t>
            </a:r>
            <a:r>
              <a:rPr lang="ko-KR" altLang="en-US" sz="1200" b="1" dirty="0">
                <a:solidFill>
                  <a:schemeClr val="tx1"/>
                </a:solidFill>
              </a:rPr>
              <a:t>열쇠 </a:t>
            </a:r>
            <a:r>
              <a:rPr lang="en-US" altLang="ko-KR" sz="1200" b="1" dirty="0">
                <a:solidFill>
                  <a:schemeClr val="tx1"/>
                </a:solidFill>
              </a:rPr>
              <a:t>4739</a:t>
            </a:r>
            <a:r>
              <a:rPr lang="ko-KR" altLang="en-US" sz="1200" b="1" dirty="0">
                <a:solidFill>
                  <a:schemeClr val="tx1"/>
                </a:solidFill>
              </a:rPr>
              <a:t>종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현관 </a:t>
            </a:r>
            <a:r>
              <a:rPr lang="en-US" altLang="ko-KR" sz="1200" b="1" dirty="0">
                <a:solidFill>
                  <a:schemeClr val="tx1"/>
                </a:solidFill>
              </a:rPr>
              <a:t>9495* </a:t>
            </a:r>
            <a:r>
              <a:rPr lang="ko-KR" altLang="en-US" sz="1200" b="1" dirty="0">
                <a:solidFill>
                  <a:schemeClr val="tx1"/>
                </a:solidFill>
              </a:rPr>
              <a:t>입니다 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200" b="1" dirty="0"/>
              <a:t> </a:t>
            </a:r>
            <a:r>
              <a:rPr lang="ko-KR" altLang="en-US" sz="1200" b="1" dirty="0"/>
              <a:t>열쇠 </a:t>
            </a:r>
            <a:r>
              <a:rPr lang="en-US" altLang="ko-KR" sz="1200" b="1" dirty="0"/>
              <a:t>4739 </a:t>
            </a:r>
            <a:r>
              <a:rPr lang="ko-KR" altLang="en-US" sz="1200" b="1" dirty="0"/>
              <a:t>종</a:t>
            </a:r>
          </a:p>
          <a:p>
            <a:pPr algn="ctr"/>
            <a:r>
              <a:rPr lang="ko-KR" altLang="en-US" sz="1200" b="1" dirty="0"/>
              <a:t>현관 </a:t>
            </a:r>
            <a:r>
              <a:rPr lang="en-US" altLang="ko-KR" sz="1200" b="1" dirty="0"/>
              <a:t>9495* </a:t>
            </a:r>
            <a:r>
              <a:rPr lang="ko-KR" altLang="en-US" sz="1200" b="1" dirty="0"/>
              <a:t>입니다 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DD1DF72-04F4-5674-8C62-04A518F0B14A}"/>
              </a:ext>
            </a:extLst>
          </p:cNvPr>
          <p:cNvSpPr/>
          <p:nvPr/>
        </p:nvSpPr>
        <p:spPr>
          <a:xfrm>
            <a:off x="10184245" y="3429000"/>
            <a:ext cx="1948873" cy="3043381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chemeClr val="tx1"/>
                </a:solidFill>
              </a:rPr>
              <a:t>체크사항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각위치</a:t>
            </a:r>
            <a:r>
              <a:rPr lang="ko-KR" altLang="en-US" sz="1200" b="1" dirty="0">
                <a:solidFill>
                  <a:schemeClr val="tx1"/>
                </a:solidFill>
              </a:rPr>
              <a:t> 센터 설치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벽에서벽까지</a:t>
            </a:r>
            <a:r>
              <a:rPr lang="en-US" altLang="ko-KR" sz="1200" b="1" dirty="0">
                <a:solidFill>
                  <a:schemeClr val="tx1"/>
                </a:solidFill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</a:rPr>
              <a:t>또는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기둥에서 기둥까지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천장 </a:t>
            </a:r>
            <a:r>
              <a:rPr lang="ko-KR" altLang="en-US" sz="1200" b="1" dirty="0" err="1">
                <a:solidFill>
                  <a:schemeClr val="tx1"/>
                </a:solidFill>
              </a:rPr>
              <a:t>타공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</a:rPr>
              <a:t>작업시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치수 기재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에어컨 전기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전기업체 </a:t>
            </a:r>
            <a:r>
              <a:rPr lang="ko-KR" altLang="en-US" sz="1200" b="1" dirty="0" err="1">
                <a:solidFill>
                  <a:schemeClr val="tx1"/>
                </a:solidFill>
              </a:rPr>
              <a:t>별도요청함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  <a:endParaRPr lang="ko-KR" altLang="en-US" sz="1200" b="1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313C19A-E4C6-6B97-B79A-E422C14D5952}"/>
              </a:ext>
            </a:extLst>
          </p:cNvPr>
          <p:cNvSpPr/>
          <p:nvPr/>
        </p:nvSpPr>
        <p:spPr>
          <a:xfrm>
            <a:off x="3950853" y="2223654"/>
            <a:ext cx="72738" cy="37407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F2BA717D-FABA-124D-0F0C-3D5E7A7F70FC}"/>
              </a:ext>
            </a:extLst>
          </p:cNvPr>
          <p:cNvSpPr/>
          <p:nvPr/>
        </p:nvSpPr>
        <p:spPr>
          <a:xfrm>
            <a:off x="267857" y="397164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&lt;</a:t>
            </a:r>
            <a:r>
              <a:rPr lang="ko-KR" altLang="en-US" sz="1400" b="1" dirty="0">
                <a:solidFill>
                  <a:schemeClr val="tx1"/>
                </a:solidFill>
              </a:rPr>
              <a:t>철거</a:t>
            </a:r>
            <a:r>
              <a:rPr lang="en-US" altLang="ko-KR" sz="1400" b="1" dirty="0">
                <a:solidFill>
                  <a:schemeClr val="tx1"/>
                </a:solidFill>
              </a:rPr>
              <a:t>&gt;</a:t>
            </a:r>
            <a:endParaRPr lang="ko-KR" altLang="en-US" sz="1400" b="1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173E784-7B7A-5331-CF5F-90276CF26269}"/>
              </a:ext>
            </a:extLst>
          </p:cNvPr>
          <p:cNvSpPr/>
          <p:nvPr/>
        </p:nvSpPr>
        <p:spPr>
          <a:xfrm>
            <a:off x="5825836" y="2309091"/>
            <a:ext cx="1219200" cy="517236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타일철거</a:t>
            </a:r>
            <a:r>
              <a:rPr lang="en-US" altLang="ko-KR" sz="11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7AF4D23-25FB-9851-817F-CA368512EF48}"/>
              </a:ext>
            </a:extLst>
          </p:cNvPr>
          <p:cNvSpPr/>
          <p:nvPr/>
        </p:nvSpPr>
        <p:spPr>
          <a:xfrm>
            <a:off x="4626271" y="4627418"/>
            <a:ext cx="1219200" cy="517236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기둥마감 및 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장식 선반 전체 철거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00EEA4D-0EF4-29F1-3C19-5504B6D38070}"/>
              </a:ext>
            </a:extLst>
          </p:cNvPr>
          <p:cNvSpPr/>
          <p:nvPr/>
        </p:nvSpPr>
        <p:spPr>
          <a:xfrm>
            <a:off x="2403767" y="5343236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건조대 철거</a:t>
            </a:r>
            <a:endParaRPr lang="ko-KR" altLang="en-US" b="1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3250F77-F2B6-3A1F-03B9-ADF477ECE8F2}"/>
              </a:ext>
            </a:extLst>
          </p:cNvPr>
          <p:cNvSpPr/>
          <p:nvPr/>
        </p:nvSpPr>
        <p:spPr>
          <a:xfrm rot="5400000">
            <a:off x="3290986" y="2992217"/>
            <a:ext cx="902635" cy="3540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3E4007D-AA71-31E1-AA66-9CFD71C33FDE}"/>
              </a:ext>
            </a:extLst>
          </p:cNvPr>
          <p:cNvSpPr/>
          <p:nvPr/>
        </p:nvSpPr>
        <p:spPr>
          <a:xfrm>
            <a:off x="5809151" y="3220604"/>
            <a:ext cx="288640" cy="30826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E46E764-F34F-C1B4-964F-F450865728E2}"/>
              </a:ext>
            </a:extLst>
          </p:cNvPr>
          <p:cNvSpPr/>
          <p:nvPr/>
        </p:nvSpPr>
        <p:spPr>
          <a:xfrm>
            <a:off x="2722427" y="2186708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확장 공사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27D23A9D-C920-1B7A-0DD9-592CE0E6DD16}"/>
              </a:ext>
            </a:extLst>
          </p:cNvPr>
          <p:cNvSpPr/>
          <p:nvPr/>
        </p:nvSpPr>
        <p:spPr>
          <a:xfrm>
            <a:off x="4186384" y="5297054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확장 공사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3A2CAE7-D61D-6D0D-E4BC-82C810E140AB}"/>
              </a:ext>
            </a:extLst>
          </p:cNvPr>
          <p:cNvSpPr/>
          <p:nvPr/>
        </p:nvSpPr>
        <p:spPr>
          <a:xfrm rot="5400000">
            <a:off x="2994641" y="4603964"/>
            <a:ext cx="902635" cy="3540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AEB6673-EA64-24EE-A4C7-73EC52325015}"/>
              </a:ext>
            </a:extLst>
          </p:cNvPr>
          <p:cNvCxnSpPr>
            <a:cxnSpLocks/>
          </p:cNvCxnSpPr>
          <p:nvPr/>
        </p:nvCxnSpPr>
        <p:spPr>
          <a:xfrm>
            <a:off x="6531367" y="5912426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0EABC00-FFE8-B6CA-0781-5B682666FD3B}"/>
              </a:ext>
            </a:extLst>
          </p:cNvPr>
          <p:cNvSpPr/>
          <p:nvPr/>
        </p:nvSpPr>
        <p:spPr>
          <a:xfrm>
            <a:off x="7628762" y="5653808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실외기실</a:t>
            </a:r>
            <a:endParaRPr lang="ko-KR" altLang="en-US" b="1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1FAF85F-8F19-F357-A2EF-BCEEE92FDB54}"/>
              </a:ext>
            </a:extLst>
          </p:cNvPr>
          <p:cNvSpPr/>
          <p:nvPr/>
        </p:nvSpPr>
        <p:spPr>
          <a:xfrm>
            <a:off x="4230358" y="5498705"/>
            <a:ext cx="1219200" cy="4679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8603DC2-86CD-6FE6-8E72-0555EB35CB1C}"/>
              </a:ext>
            </a:extLst>
          </p:cNvPr>
          <p:cNvCxnSpPr/>
          <p:nvPr/>
        </p:nvCxnSpPr>
        <p:spPr>
          <a:xfrm flipV="1">
            <a:off x="5938982" y="1789546"/>
            <a:ext cx="0" cy="137967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CB2F092-8D2E-A658-E25F-7778A39CB871}"/>
              </a:ext>
            </a:extLst>
          </p:cNvPr>
          <p:cNvSpPr/>
          <p:nvPr/>
        </p:nvSpPr>
        <p:spPr>
          <a:xfrm>
            <a:off x="5312167" y="1407968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분전함</a:t>
            </a:r>
            <a:endParaRPr lang="ko-KR" altLang="en-US" b="1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62F38E9-F7A8-934F-D9CA-9AEC46C452BA}"/>
              </a:ext>
            </a:extLst>
          </p:cNvPr>
          <p:cNvSpPr/>
          <p:nvPr/>
        </p:nvSpPr>
        <p:spPr>
          <a:xfrm>
            <a:off x="6583168" y="5264712"/>
            <a:ext cx="1219200" cy="4679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F2DEDB-3E52-D457-806C-096210C52C0B}"/>
              </a:ext>
            </a:extLst>
          </p:cNvPr>
          <p:cNvSpPr/>
          <p:nvPr/>
        </p:nvSpPr>
        <p:spPr>
          <a:xfrm>
            <a:off x="5799915" y="5287820"/>
            <a:ext cx="96344" cy="4679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91412CA-9D5B-C389-B315-786CBF8BBA57}"/>
              </a:ext>
            </a:extLst>
          </p:cNvPr>
          <p:cNvSpPr/>
          <p:nvPr/>
        </p:nvSpPr>
        <p:spPr>
          <a:xfrm>
            <a:off x="5820060" y="5742708"/>
            <a:ext cx="711307" cy="33943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93E3F06-30FC-4D23-BC74-74FCD9C277BC}"/>
              </a:ext>
            </a:extLst>
          </p:cNvPr>
          <p:cNvCxnSpPr/>
          <p:nvPr/>
        </p:nvCxnSpPr>
        <p:spPr>
          <a:xfrm>
            <a:off x="3622967" y="3528868"/>
            <a:ext cx="0" cy="21249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C59E1D9C-A6E5-A0CC-3FE1-67E621C8BF14}"/>
              </a:ext>
            </a:extLst>
          </p:cNvPr>
          <p:cNvCxnSpPr>
            <a:cxnSpLocks/>
          </p:cNvCxnSpPr>
          <p:nvPr/>
        </p:nvCxnSpPr>
        <p:spPr>
          <a:xfrm>
            <a:off x="3622967" y="5653808"/>
            <a:ext cx="2176948" cy="258618"/>
          </a:xfrm>
          <a:prstGeom prst="bentConnector3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9CF503C-FF12-993F-122E-7EC3CB3B1106}"/>
              </a:ext>
            </a:extLst>
          </p:cNvPr>
          <p:cNvCxnSpPr>
            <a:cxnSpLocks/>
          </p:cNvCxnSpPr>
          <p:nvPr/>
        </p:nvCxnSpPr>
        <p:spPr>
          <a:xfrm>
            <a:off x="7779334" y="5498705"/>
            <a:ext cx="56110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699805B-6F95-59E0-F0FA-8511B5F7958C}"/>
              </a:ext>
            </a:extLst>
          </p:cNvPr>
          <p:cNvSpPr/>
          <p:nvPr/>
        </p:nvSpPr>
        <p:spPr>
          <a:xfrm>
            <a:off x="8223827" y="5240086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배관부분 협의</a:t>
            </a:r>
            <a:endParaRPr lang="ko-KR" altLang="en-US" b="1" dirty="0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70FE6B93-2EA3-6D7D-7C0D-C77414ACFB2A}"/>
              </a:ext>
            </a:extLst>
          </p:cNvPr>
          <p:cNvCxnSpPr/>
          <p:nvPr/>
        </p:nvCxnSpPr>
        <p:spPr>
          <a:xfrm>
            <a:off x="5921767" y="5521812"/>
            <a:ext cx="629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035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84E1-7C24-77B5-9F1F-BC851D51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6FD060A-99D2-8E18-4FD0-75FB89ABEAD9}"/>
              </a:ext>
            </a:extLst>
          </p:cNvPr>
          <p:cNvSpPr/>
          <p:nvPr/>
        </p:nvSpPr>
        <p:spPr>
          <a:xfrm>
            <a:off x="10125363" y="129309"/>
            <a:ext cx="1948873" cy="369454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경기도 수원시 영통구 </a:t>
            </a:r>
            <a:r>
              <a:rPr lang="ko-KR" altLang="en-US" sz="1200" b="1" dirty="0" err="1">
                <a:solidFill>
                  <a:schemeClr val="tx1"/>
                </a:solidFill>
              </a:rPr>
              <a:t>영통로</a:t>
            </a:r>
            <a:r>
              <a:rPr lang="en-US" altLang="ko-KR" sz="1200" b="1" dirty="0">
                <a:solidFill>
                  <a:schemeClr val="tx1"/>
                </a:solidFill>
              </a:rPr>
              <a:t>200</a:t>
            </a:r>
            <a:r>
              <a:rPr lang="ko-KR" altLang="en-US" sz="1200" b="1" dirty="0" err="1">
                <a:solidFill>
                  <a:schemeClr val="tx1"/>
                </a:solidFill>
              </a:rPr>
              <a:t>번길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156</a:t>
            </a:r>
          </a:p>
          <a:p>
            <a:pPr algn="ctr"/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방죽마을 영통 </a:t>
            </a:r>
            <a:r>
              <a:rPr lang="ko-KR" altLang="en-US" sz="1200" b="1" dirty="0" err="1">
                <a:solidFill>
                  <a:schemeClr val="tx1"/>
                </a:solidFill>
              </a:rPr>
              <a:t>뜨란채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1004</a:t>
            </a:r>
            <a:r>
              <a:rPr lang="ko-KR" altLang="en-US" sz="1200" b="1" dirty="0">
                <a:solidFill>
                  <a:schemeClr val="tx1"/>
                </a:solidFill>
              </a:rPr>
              <a:t>동 </a:t>
            </a:r>
            <a:r>
              <a:rPr lang="en-US" altLang="ko-KR" sz="1200" b="1" dirty="0">
                <a:solidFill>
                  <a:schemeClr val="tx1"/>
                </a:solidFill>
              </a:rPr>
              <a:t>302</a:t>
            </a:r>
            <a:r>
              <a:rPr lang="ko-KR" altLang="en-US" sz="1200" b="1" dirty="0">
                <a:solidFill>
                  <a:schemeClr val="tx1"/>
                </a:solidFill>
              </a:rPr>
              <a:t>호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정문 출입만 가능</a:t>
            </a:r>
            <a:r>
              <a:rPr lang="en-US" altLang="ko-KR" sz="1200" b="1" dirty="0">
                <a:solidFill>
                  <a:schemeClr val="tx1"/>
                </a:solidFill>
              </a:rPr>
              <a:t>/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출입문 들어가서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좌측길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1</a:t>
            </a:r>
            <a:r>
              <a:rPr lang="ko-KR" altLang="en-US" sz="1200" b="1" dirty="0">
                <a:solidFill>
                  <a:schemeClr val="tx1"/>
                </a:solidFill>
              </a:rPr>
              <a:t>층 </a:t>
            </a:r>
            <a:r>
              <a:rPr lang="en-US" altLang="ko-KR" sz="1200" b="1" dirty="0">
                <a:solidFill>
                  <a:schemeClr val="tx1"/>
                </a:solidFill>
              </a:rPr>
              <a:t>302 </a:t>
            </a:r>
            <a:r>
              <a:rPr lang="ko-KR" altLang="en-US" sz="1200" b="1" dirty="0">
                <a:solidFill>
                  <a:schemeClr val="tx1"/>
                </a:solidFill>
              </a:rPr>
              <a:t>열쇠 </a:t>
            </a:r>
            <a:r>
              <a:rPr lang="en-US" altLang="ko-KR" sz="1200" b="1" dirty="0">
                <a:solidFill>
                  <a:schemeClr val="tx1"/>
                </a:solidFill>
              </a:rPr>
              <a:t>4739</a:t>
            </a:r>
            <a:r>
              <a:rPr lang="ko-KR" altLang="en-US" sz="1200" b="1" dirty="0">
                <a:solidFill>
                  <a:schemeClr val="tx1"/>
                </a:solidFill>
              </a:rPr>
              <a:t>종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현관 </a:t>
            </a:r>
            <a:r>
              <a:rPr lang="en-US" altLang="ko-KR" sz="1200" b="1" dirty="0">
                <a:solidFill>
                  <a:schemeClr val="tx1"/>
                </a:solidFill>
              </a:rPr>
              <a:t>9495* </a:t>
            </a:r>
            <a:r>
              <a:rPr lang="ko-KR" altLang="en-US" sz="1200" b="1" dirty="0">
                <a:solidFill>
                  <a:schemeClr val="tx1"/>
                </a:solidFill>
              </a:rPr>
              <a:t>입니다 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200" b="1" dirty="0"/>
              <a:t> </a:t>
            </a:r>
            <a:r>
              <a:rPr lang="ko-KR" altLang="en-US" sz="1200" b="1" dirty="0"/>
              <a:t>열쇠 </a:t>
            </a:r>
            <a:r>
              <a:rPr lang="en-US" altLang="ko-KR" sz="1200" b="1" dirty="0"/>
              <a:t>4739 </a:t>
            </a:r>
            <a:r>
              <a:rPr lang="ko-KR" altLang="en-US" sz="1200" b="1" dirty="0"/>
              <a:t>종</a:t>
            </a:r>
          </a:p>
          <a:p>
            <a:pPr algn="ctr"/>
            <a:r>
              <a:rPr lang="ko-KR" altLang="en-US" sz="1200" b="1" dirty="0"/>
              <a:t>현관 </a:t>
            </a:r>
            <a:r>
              <a:rPr lang="en-US" altLang="ko-KR" sz="1200" b="1" dirty="0"/>
              <a:t>9495* </a:t>
            </a:r>
            <a:r>
              <a:rPr lang="ko-KR" altLang="en-US" sz="1200" b="1" dirty="0"/>
              <a:t>입니다 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41ECE73C-29FB-F04E-5DEC-CE935057C51C}"/>
              </a:ext>
            </a:extLst>
          </p:cNvPr>
          <p:cNvSpPr/>
          <p:nvPr/>
        </p:nvSpPr>
        <p:spPr>
          <a:xfrm>
            <a:off x="10184245" y="3429000"/>
            <a:ext cx="1948873" cy="3043381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chemeClr val="tx1"/>
                </a:solidFill>
              </a:rPr>
              <a:t>체크사항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확장공사 단열작업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문틀 재사용 </a:t>
            </a:r>
            <a:r>
              <a:rPr lang="ko-KR" altLang="en-US" sz="1200" b="1" dirty="0" err="1">
                <a:solidFill>
                  <a:schemeClr val="tx1"/>
                </a:solidFill>
              </a:rPr>
              <a:t>문선몰딩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30</a:t>
            </a:r>
            <a:r>
              <a:rPr lang="ko-KR" altLang="en-US" sz="1200" b="1" dirty="0">
                <a:solidFill>
                  <a:schemeClr val="tx1"/>
                </a:solidFill>
              </a:rPr>
              <a:t>미리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필름마감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걸레받이 작업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ko-KR" altLang="en-US" sz="1200" b="1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81C4802-808A-DC5D-FAC5-9A845965827F}"/>
              </a:ext>
            </a:extLst>
          </p:cNvPr>
          <p:cNvSpPr/>
          <p:nvPr/>
        </p:nvSpPr>
        <p:spPr>
          <a:xfrm>
            <a:off x="3950853" y="2223654"/>
            <a:ext cx="72738" cy="37407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FEFCDE50-B857-D114-0DBB-E4168C37B16E}"/>
              </a:ext>
            </a:extLst>
          </p:cNvPr>
          <p:cNvSpPr/>
          <p:nvPr/>
        </p:nvSpPr>
        <p:spPr>
          <a:xfrm>
            <a:off x="267857" y="397164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&lt;</a:t>
            </a:r>
            <a:r>
              <a:rPr lang="ko-KR" altLang="en-US" sz="1400" b="1" dirty="0">
                <a:solidFill>
                  <a:schemeClr val="tx1"/>
                </a:solidFill>
              </a:rPr>
              <a:t>철거</a:t>
            </a:r>
            <a:r>
              <a:rPr lang="en-US" altLang="ko-KR" sz="1400" b="1" dirty="0">
                <a:solidFill>
                  <a:schemeClr val="tx1"/>
                </a:solidFill>
              </a:rPr>
              <a:t>&gt;</a:t>
            </a:r>
            <a:endParaRPr lang="ko-KR" altLang="en-US" sz="1400" b="1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829D17D-0B10-F478-550E-1D4AC1EBC137}"/>
              </a:ext>
            </a:extLst>
          </p:cNvPr>
          <p:cNvSpPr/>
          <p:nvPr/>
        </p:nvSpPr>
        <p:spPr>
          <a:xfrm>
            <a:off x="5825836" y="2309091"/>
            <a:ext cx="1219200" cy="517236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타일철거</a:t>
            </a:r>
            <a:r>
              <a:rPr lang="en-US" altLang="ko-KR" sz="1100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E07E419-36A8-AEBE-6F0B-D562FFFE31A1}"/>
              </a:ext>
            </a:extLst>
          </p:cNvPr>
          <p:cNvSpPr/>
          <p:nvPr/>
        </p:nvSpPr>
        <p:spPr>
          <a:xfrm>
            <a:off x="4470400" y="4645885"/>
            <a:ext cx="1219200" cy="517236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기둥마감 및 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벽걸이 </a:t>
            </a:r>
            <a:r>
              <a:rPr lang="ko-KR" altLang="en-US" sz="1100" b="1" dirty="0" err="1">
                <a:solidFill>
                  <a:schemeClr val="tx1"/>
                </a:solidFill>
              </a:rPr>
              <a:t>티비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9E370ED2-8792-B231-F7AC-0D56CA633BAA}"/>
              </a:ext>
            </a:extLst>
          </p:cNvPr>
          <p:cNvSpPr/>
          <p:nvPr/>
        </p:nvSpPr>
        <p:spPr>
          <a:xfrm rot="5400000">
            <a:off x="3290986" y="2992217"/>
            <a:ext cx="902635" cy="3540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EB61539-7314-D7D3-B00E-C5EDB400472B}"/>
              </a:ext>
            </a:extLst>
          </p:cNvPr>
          <p:cNvSpPr/>
          <p:nvPr/>
        </p:nvSpPr>
        <p:spPr>
          <a:xfrm>
            <a:off x="5630646" y="3063273"/>
            <a:ext cx="987829" cy="14486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C8E2E494-9613-212A-A7FA-62BD13843B00}"/>
              </a:ext>
            </a:extLst>
          </p:cNvPr>
          <p:cNvSpPr/>
          <p:nvPr/>
        </p:nvSpPr>
        <p:spPr>
          <a:xfrm>
            <a:off x="2722427" y="2186708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확장 공사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5B81687-7CEA-3AB5-A522-D21DD34E209F}"/>
              </a:ext>
            </a:extLst>
          </p:cNvPr>
          <p:cNvSpPr/>
          <p:nvPr/>
        </p:nvSpPr>
        <p:spPr>
          <a:xfrm>
            <a:off x="4186384" y="5297054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확장 공사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63EFC1-AD74-67A5-9CC1-1F04F582C980}"/>
              </a:ext>
            </a:extLst>
          </p:cNvPr>
          <p:cNvSpPr/>
          <p:nvPr/>
        </p:nvSpPr>
        <p:spPr>
          <a:xfrm rot="5400000">
            <a:off x="2994641" y="4603964"/>
            <a:ext cx="902635" cy="3540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A4E47A8-AC16-9759-9E0F-BFC3818CD8FE}"/>
              </a:ext>
            </a:extLst>
          </p:cNvPr>
          <p:cNvCxnSpPr>
            <a:cxnSpLocks/>
          </p:cNvCxnSpPr>
          <p:nvPr/>
        </p:nvCxnSpPr>
        <p:spPr>
          <a:xfrm>
            <a:off x="6531367" y="5912426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A8A7E72-35EF-3547-2308-E30E104AF64B}"/>
              </a:ext>
            </a:extLst>
          </p:cNvPr>
          <p:cNvSpPr/>
          <p:nvPr/>
        </p:nvSpPr>
        <p:spPr>
          <a:xfrm>
            <a:off x="7628762" y="5653808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실외기실</a:t>
            </a:r>
            <a:endParaRPr lang="ko-KR" altLang="en-US" b="1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3B0B0FE-7C14-D918-A902-3977DF26C25B}"/>
              </a:ext>
            </a:extLst>
          </p:cNvPr>
          <p:cNvSpPr/>
          <p:nvPr/>
        </p:nvSpPr>
        <p:spPr>
          <a:xfrm>
            <a:off x="4230358" y="5498705"/>
            <a:ext cx="1219200" cy="4679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A6B8960-16FB-0591-C63A-D230FB787CC5}"/>
              </a:ext>
            </a:extLst>
          </p:cNvPr>
          <p:cNvCxnSpPr/>
          <p:nvPr/>
        </p:nvCxnSpPr>
        <p:spPr>
          <a:xfrm flipV="1">
            <a:off x="5938982" y="1789546"/>
            <a:ext cx="0" cy="137967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2246986-5131-8C30-80DD-01FDBEA28900}"/>
              </a:ext>
            </a:extLst>
          </p:cNvPr>
          <p:cNvSpPr/>
          <p:nvPr/>
        </p:nvSpPr>
        <p:spPr>
          <a:xfrm>
            <a:off x="3482109" y="1013689"/>
            <a:ext cx="3778930" cy="911515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출현관 문틀 도어다리 </a:t>
            </a:r>
            <a:r>
              <a:rPr lang="ko-KR" altLang="en-US" sz="1100" b="1" dirty="0" err="1">
                <a:solidFill>
                  <a:schemeClr val="tx1"/>
                </a:solidFill>
              </a:rPr>
              <a:t>덧뎀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현관 벽면 </a:t>
            </a:r>
            <a:r>
              <a:rPr lang="ko-KR" altLang="en-US" sz="1100" b="1" dirty="0" err="1">
                <a:solidFill>
                  <a:schemeClr val="tx1"/>
                </a:solidFill>
              </a:rPr>
              <a:t>덧방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입구방</a:t>
            </a:r>
            <a:r>
              <a:rPr lang="ko-KR" altLang="en-US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 err="1">
                <a:solidFill>
                  <a:schemeClr val="tx1"/>
                </a:solidFill>
              </a:rPr>
              <a:t>히든도어</a:t>
            </a:r>
            <a:r>
              <a:rPr lang="ko-KR" altLang="en-US" sz="1100" b="1" dirty="0">
                <a:solidFill>
                  <a:schemeClr val="tx1"/>
                </a:solidFill>
              </a:rPr>
              <a:t> 및 벽체 설치</a:t>
            </a:r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</a:rPr>
              <a:t>필름마감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거실입구 상부 아치디자인</a:t>
            </a:r>
            <a:endParaRPr lang="ko-KR" altLang="en-US" b="1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6E9B9FD-B3E3-9524-EAC0-06255CEEB6ED}"/>
              </a:ext>
            </a:extLst>
          </p:cNvPr>
          <p:cNvSpPr/>
          <p:nvPr/>
        </p:nvSpPr>
        <p:spPr>
          <a:xfrm>
            <a:off x="6583168" y="5264712"/>
            <a:ext cx="1219200" cy="4679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93F76F7-DEE6-6D06-29B0-3DC5004EE654}"/>
              </a:ext>
            </a:extLst>
          </p:cNvPr>
          <p:cNvSpPr/>
          <p:nvPr/>
        </p:nvSpPr>
        <p:spPr>
          <a:xfrm>
            <a:off x="5799915" y="5287820"/>
            <a:ext cx="96344" cy="4679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E8D3C02-7FAC-C340-8474-87227E480264}"/>
              </a:ext>
            </a:extLst>
          </p:cNvPr>
          <p:cNvSpPr/>
          <p:nvPr/>
        </p:nvSpPr>
        <p:spPr>
          <a:xfrm>
            <a:off x="5820060" y="5742708"/>
            <a:ext cx="711307" cy="33943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AA13157-547C-30E2-1EC9-17741EC1947C}"/>
              </a:ext>
            </a:extLst>
          </p:cNvPr>
          <p:cNvCxnSpPr/>
          <p:nvPr/>
        </p:nvCxnSpPr>
        <p:spPr>
          <a:xfrm>
            <a:off x="3622967" y="3528868"/>
            <a:ext cx="0" cy="21249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73B4DBC6-A61F-F49F-C3A8-F1FF106234DE}"/>
              </a:ext>
            </a:extLst>
          </p:cNvPr>
          <p:cNvCxnSpPr>
            <a:cxnSpLocks/>
          </p:cNvCxnSpPr>
          <p:nvPr/>
        </p:nvCxnSpPr>
        <p:spPr>
          <a:xfrm>
            <a:off x="3622967" y="5653808"/>
            <a:ext cx="2176948" cy="258618"/>
          </a:xfrm>
          <a:prstGeom prst="bentConnector3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02DE661-43E3-497E-D6B1-715A0F4A45A0}"/>
              </a:ext>
            </a:extLst>
          </p:cNvPr>
          <p:cNvCxnSpPr>
            <a:cxnSpLocks/>
          </p:cNvCxnSpPr>
          <p:nvPr/>
        </p:nvCxnSpPr>
        <p:spPr>
          <a:xfrm>
            <a:off x="7779334" y="5498705"/>
            <a:ext cx="56110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A2447A7-05C9-140A-D279-7DB13510584A}"/>
              </a:ext>
            </a:extLst>
          </p:cNvPr>
          <p:cNvSpPr/>
          <p:nvPr/>
        </p:nvSpPr>
        <p:spPr>
          <a:xfrm>
            <a:off x="8223826" y="5240086"/>
            <a:ext cx="1960417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에어컨박스설치 및 </a:t>
            </a:r>
            <a:r>
              <a:rPr lang="ko-KR" altLang="en-US" sz="1100" b="1" dirty="0" err="1">
                <a:solidFill>
                  <a:schemeClr val="tx1"/>
                </a:solidFill>
              </a:rPr>
              <a:t>간접등</a:t>
            </a:r>
            <a:endParaRPr lang="ko-KR" altLang="en-US" b="1" dirty="0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C701DAA-58B8-9FF1-3565-A5E9ED37CD06}"/>
              </a:ext>
            </a:extLst>
          </p:cNvPr>
          <p:cNvCxnSpPr/>
          <p:nvPr/>
        </p:nvCxnSpPr>
        <p:spPr>
          <a:xfrm>
            <a:off x="5921767" y="5521812"/>
            <a:ext cx="629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1C95FEF7-02CB-9653-0AF8-0C054D52C1A8}"/>
              </a:ext>
            </a:extLst>
          </p:cNvPr>
          <p:cNvCxnSpPr/>
          <p:nvPr/>
        </p:nvCxnSpPr>
        <p:spPr>
          <a:xfrm flipH="1">
            <a:off x="5689600" y="5653808"/>
            <a:ext cx="110315" cy="71928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382363B-CFF5-5214-CAEF-EA07684FA408}"/>
              </a:ext>
            </a:extLst>
          </p:cNvPr>
          <p:cNvSpPr/>
          <p:nvPr/>
        </p:nvSpPr>
        <p:spPr>
          <a:xfrm>
            <a:off x="5080000" y="6304971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가벽설치</a:t>
            </a:r>
            <a:endParaRPr lang="ko-KR" altLang="en-US" b="1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6FEAFAD-9507-55D8-F86A-EF63EAED7938}"/>
              </a:ext>
            </a:extLst>
          </p:cNvPr>
          <p:cNvCxnSpPr>
            <a:cxnSpLocks/>
          </p:cNvCxnSpPr>
          <p:nvPr/>
        </p:nvCxnSpPr>
        <p:spPr>
          <a:xfrm>
            <a:off x="5820060" y="4193309"/>
            <a:ext cx="589976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6CC86A6-C9FF-FC7C-CD22-5A999EA695BC}"/>
              </a:ext>
            </a:extLst>
          </p:cNvPr>
          <p:cNvCxnSpPr>
            <a:cxnSpLocks/>
          </p:cNvCxnSpPr>
          <p:nvPr/>
        </p:nvCxnSpPr>
        <p:spPr>
          <a:xfrm flipV="1">
            <a:off x="5827574" y="4179737"/>
            <a:ext cx="0" cy="664441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47D1842-4790-68B4-35B8-982CA9B0621F}"/>
              </a:ext>
            </a:extLst>
          </p:cNvPr>
          <p:cNvCxnSpPr/>
          <p:nvPr/>
        </p:nvCxnSpPr>
        <p:spPr>
          <a:xfrm flipH="1">
            <a:off x="4793673" y="2918691"/>
            <a:ext cx="89592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62BC241-7E1A-06CA-E616-CCF65A06DB28}"/>
              </a:ext>
            </a:extLst>
          </p:cNvPr>
          <p:cNvSpPr/>
          <p:nvPr/>
        </p:nvSpPr>
        <p:spPr>
          <a:xfrm>
            <a:off x="3842867" y="2682875"/>
            <a:ext cx="1411445" cy="1113268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타일덧방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하부 각재 설치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싱크대 벽면 선반</a:t>
            </a:r>
            <a:r>
              <a:rPr lang="en-US" altLang="ko-KR" sz="1100" b="1" dirty="0">
                <a:solidFill>
                  <a:schemeClr val="tx1"/>
                </a:solidFill>
              </a:rPr>
              <a:t>2</a:t>
            </a:r>
            <a:r>
              <a:rPr lang="ko-KR" altLang="en-US" sz="1100" b="1" dirty="0">
                <a:solidFill>
                  <a:schemeClr val="tx1"/>
                </a:solidFill>
              </a:rPr>
              <a:t>개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344966E-52FA-1BC6-AABD-D9BAA3297E70}"/>
              </a:ext>
            </a:extLst>
          </p:cNvPr>
          <p:cNvSpPr/>
          <p:nvPr/>
        </p:nvSpPr>
        <p:spPr>
          <a:xfrm>
            <a:off x="3565295" y="5343236"/>
            <a:ext cx="502117" cy="51723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58F450E-2B8D-A38E-A5D9-A9BCC109248E}"/>
              </a:ext>
            </a:extLst>
          </p:cNvPr>
          <p:cNvCxnSpPr>
            <a:cxnSpLocks/>
          </p:cNvCxnSpPr>
          <p:nvPr/>
        </p:nvCxnSpPr>
        <p:spPr>
          <a:xfrm flipH="1">
            <a:off x="1394691" y="5653808"/>
            <a:ext cx="2148758" cy="65116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37BF15E-594C-BD39-2BA0-56482EA0B4EE}"/>
              </a:ext>
            </a:extLst>
          </p:cNvPr>
          <p:cNvSpPr/>
          <p:nvPr/>
        </p:nvSpPr>
        <p:spPr>
          <a:xfrm>
            <a:off x="414482" y="6078679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터닝도어</a:t>
            </a:r>
            <a:endParaRPr lang="ko-KR" altLang="en-US" b="1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7F54600-6771-8894-FFEC-DCB12C93D146}"/>
              </a:ext>
            </a:extLst>
          </p:cNvPr>
          <p:cNvSpPr/>
          <p:nvPr/>
        </p:nvSpPr>
        <p:spPr>
          <a:xfrm>
            <a:off x="3749964" y="3823855"/>
            <a:ext cx="349146" cy="1448685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5A1EDF6-50EC-B489-FF63-3F1388F4C10D}"/>
              </a:ext>
            </a:extLst>
          </p:cNvPr>
          <p:cNvSpPr/>
          <p:nvPr/>
        </p:nvSpPr>
        <p:spPr>
          <a:xfrm>
            <a:off x="3872371" y="3894279"/>
            <a:ext cx="1219200" cy="517236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간접 </a:t>
            </a:r>
            <a:r>
              <a:rPr lang="ko-KR" altLang="en-US" sz="1100" b="1" dirty="0" err="1">
                <a:solidFill>
                  <a:schemeClr val="tx1"/>
                </a:solidFill>
              </a:rPr>
              <a:t>등박스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ACD0A7F-3CBC-832A-5DF6-9A352096014A}"/>
              </a:ext>
            </a:extLst>
          </p:cNvPr>
          <p:cNvSpPr/>
          <p:nvPr/>
        </p:nvSpPr>
        <p:spPr>
          <a:xfrm>
            <a:off x="5610382" y="4525531"/>
            <a:ext cx="349146" cy="797816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F1C61CB-8A02-0736-FFA3-7373FD774A6A}"/>
              </a:ext>
            </a:extLst>
          </p:cNvPr>
          <p:cNvSpPr/>
          <p:nvPr/>
        </p:nvSpPr>
        <p:spPr>
          <a:xfrm rot="5400000">
            <a:off x="5192335" y="2978364"/>
            <a:ext cx="1115291" cy="3540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805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86EB0-1DA9-65CE-1A1B-1D3CAB85D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B2142D8-F7C1-B806-0D0F-B4375470B5E8}"/>
              </a:ext>
            </a:extLst>
          </p:cNvPr>
          <p:cNvSpPr/>
          <p:nvPr/>
        </p:nvSpPr>
        <p:spPr>
          <a:xfrm>
            <a:off x="10125363" y="129309"/>
            <a:ext cx="1948873" cy="2588599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경기도 수원시 영통구 </a:t>
            </a:r>
            <a:r>
              <a:rPr lang="ko-KR" altLang="en-US" sz="1200" b="1" dirty="0" err="1">
                <a:solidFill>
                  <a:schemeClr val="tx1"/>
                </a:solidFill>
              </a:rPr>
              <a:t>영통로</a:t>
            </a:r>
            <a:r>
              <a:rPr lang="en-US" altLang="ko-KR" sz="1200" b="1" dirty="0">
                <a:solidFill>
                  <a:schemeClr val="tx1"/>
                </a:solidFill>
              </a:rPr>
              <a:t>200</a:t>
            </a:r>
            <a:r>
              <a:rPr lang="ko-KR" altLang="en-US" sz="1200" b="1" dirty="0" err="1">
                <a:solidFill>
                  <a:schemeClr val="tx1"/>
                </a:solidFill>
              </a:rPr>
              <a:t>번길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156</a:t>
            </a:r>
          </a:p>
          <a:p>
            <a:pPr algn="ctr"/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방죽마을 영통 </a:t>
            </a:r>
            <a:r>
              <a:rPr lang="ko-KR" altLang="en-US" sz="1200" b="1" dirty="0" err="1">
                <a:solidFill>
                  <a:schemeClr val="tx1"/>
                </a:solidFill>
              </a:rPr>
              <a:t>뜨란채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1004</a:t>
            </a:r>
            <a:r>
              <a:rPr lang="ko-KR" altLang="en-US" sz="1200" b="1" dirty="0">
                <a:solidFill>
                  <a:schemeClr val="tx1"/>
                </a:solidFill>
              </a:rPr>
              <a:t>동 </a:t>
            </a:r>
            <a:r>
              <a:rPr lang="en-US" altLang="ko-KR" sz="1200" b="1" dirty="0">
                <a:solidFill>
                  <a:schemeClr val="tx1"/>
                </a:solidFill>
              </a:rPr>
              <a:t>302</a:t>
            </a:r>
            <a:r>
              <a:rPr lang="ko-KR" altLang="en-US" sz="1200" b="1" dirty="0">
                <a:solidFill>
                  <a:schemeClr val="tx1"/>
                </a:solidFill>
              </a:rPr>
              <a:t>호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정문 출입만 가능</a:t>
            </a:r>
            <a:r>
              <a:rPr lang="en-US" altLang="ko-KR" sz="1200" b="1" dirty="0">
                <a:solidFill>
                  <a:schemeClr val="tx1"/>
                </a:solidFill>
              </a:rPr>
              <a:t>/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출입문 들어가서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좌측길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1</a:t>
            </a:r>
            <a:r>
              <a:rPr lang="ko-KR" altLang="en-US" sz="1200" b="1" dirty="0">
                <a:solidFill>
                  <a:schemeClr val="tx1"/>
                </a:solidFill>
              </a:rPr>
              <a:t>층 </a:t>
            </a:r>
            <a:r>
              <a:rPr lang="en-US" altLang="ko-KR" sz="1200" b="1" dirty="0">
                <a:solidFill>
                  <a:schemeClr val="tx1"/>
                </a:solidFill>
              </a:rPr>
              <a:t>302 </a:t>
            </a:r>
            <a:r>
              <a:rPr lang="ko-KR" altLang="en-US" sz="1200" b="1" dirty="0">
                <a:solidFill>
                  <a:schemeClr val="tx1"/>
                </a:solidFill>
              </a:rPr>
              <a:t>열쇠 </a:t>
            </a:r>
            <a:r>
              <a:rPr lang="en-US" altLang="ko-KR" sz="1200" b="1" dirty="0">
                <a:solidFill>
                  <a:schemeClr val="tx1"/>
                </a:solidFill>
              </a:rPr>
              <a:t>4739</a:t>
            </a:r>
            <a:r>
              <a:rPr lang="ko-KR" altLang="en-US" sz="1200" b="1" dirty="0">
                <a:solidFill>
                  <a:schemeClr val="tx1"/>
                </a:solidFill>
              </a:rPr>
              <a:t>종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현관 </a:t>
            </a:r>
            <a:r>
              <a:rPr lang="en-US" altLang="ko-KR" sz="1200" b="1" dirty="0">
                <a:solidFill>
                  <a:schemeClr val="tx1"/>
                </a:solidFill>
              </a:rPr>
              <a:t>9495* </a:t>
            </a:r>
            <a:r>
              <a:rPr lang="ko-KR" altLang="en-US" sz="1200" b="1" dirty="0">
                <a:solidFill>
                  <a:schemeClr val="tx1"/>
                </a:solidFill>
              </a:rPr>
              <a:t>입니다 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ko-KR" sz="1200" b="1" dirty="0"/>
              <a:t> </a:t>
            </a:r>
            <a:r>
              <a:rPr lang="ko-KR" altLang="en-US" sz="1200" b="1" dirty="0"/>
              <a:t>열쇠 </a:t>
            </a:r>
            <a:r>
              <a:rPr lang="en-US" altLang="ko-KR" sz="1200" b="1" dirty="0"/>
              <a:t>4739 </a:t>
            </a:r>
            <a:r>
              <a:rPr lang="ko-KR" altLang="en-US" sz="1200" b="1" dirty="0"/>
              <a:t>종</a:t>
            </a:r>
          </a:p>
          <a:p>
            <a:pPr algn="ctr"/>
            <a:r>
              <a:rPr lang="ko-KR" altLang="en-US" sz="1200" b="1" dirty="0"/>
              <a:t>현관 </a:t>
            </a:r>
            <a:r>
              <a:rPr lang="en-US" altLang="ko-KR" sz="1200" b="1" dirty="0"/>
              <a:t>9495* </a:t>
            </a:r>
            <a:r>
              <a:rPr lang="ko-KR" altLang="en-US" sz="1200" b="1" dirty="0"/>
              <a:t>입니다 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49A77582-EA1C-7DA1-D2CF-40336DDFF80D}"/>
              </a:ext>
            </a:extLst>
          </p:cNvPr>
          <p:cNvSpPr/>
          <p:nvPr/>
        </p:nvSpPr>
        <p:spPr>
          <a:xfrm>
            <a:off x="9442853" y="2824019"/>
            <a:ext cx="2690093" cy="4163291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*</a:t>
            </a:r>
            <a:r>
              <a:rPr lang="ko-KR" altLang="en-US" sz="1200" b="1" dirty="0">
                <a:solidFill>
                  <a:schemeClr val="tx1"/>
                </a:solidFill>
              </a:rPr>
              <a:t>체크사항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전체 </a:t>
            </a:r>
            <a:r>
              <a:rPr lang="ko-KR" altLang="en-US" sz="1200" b="1" dirty="0" err="1">
                <a:solidFill>
                  <a:schemeClr val="tx1"/>
                </a:solidFill>
              </a:rPr>
              <a:t>주백색</a:t>
            </a:r>
            <a:r>
              <a:rPr lang="en-US" altLang="ko-KR" sz="1200" b="1" dirty="0">
                <a:solidFill>
                  <a:schemeClr val="tx1"/>
                </a:solidFill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</a:rPr>
              <a:t>욕실제외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전실</a:t>
            </a:r>
            <a:r>
              <a:rPr lang="en-US" altLang="ko-KR" sz="1200" b="1" dirty="0">
                <a:solidFill>
                  <a:schemeClr val="tx1"/>
                </a:solidFill>
              </a:rPr>
              <a:t>,</a:t>
            </a:r>
            <a:r>
              <a:rPr lang="ko-KR" altLang="en-US" sz="1200" b="1" dirty="0">
                <a:solidFill>
                  <a:schemeClr val="tx1"/>
                </a:solidFill>
              </a:rPr>
              <a:t>현관 센서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사각엣지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거실복도</a:t>
            </a:r>
            <a:r>
              <a:rPr lang="en-US" altLang="ko-KR" sz="1200" b="1" dirty="0">
                <a:solidFill>
                  <a:schemeClr val="tx1"/>
                </a:solidFill>
              </a:rPr>
              <a:t>,</a:t>
            </a:r>
            <a:r>
              <a:rPr lang="ko-KR" altLang="en-US" sz="1200" b="1" dirty="0" err="1">
                <a:solidFill>
                  <a:schemeClr val="tx1"/>
                </a:solidFill>
              </a:rPr>
              <a:t>입구방</a:t>
            </a:r>
            <a:r>
              <a:rPr lang="ko-KR" altLang="en-US" sz="1200" b="1" dirty="0">
                <a:solidFill>
                  <a:schemeClr val="tx1"/>
                </a:solidFill>
              </a:rPr>
              <a:t> 복도 </a:t>
            </a:r>
            <a:r>
              <a:rPr lang="ko-KR" altLang="en-US" sz="1200" b="1" dirty="0" err="1">
                <a:solidFill>
                  <a:schemeClr val="tx1"/>
                </a:solidFill>
              </a:rPr>
              <a:t>매입등</a:t>
            </a:r>
            <a:r>
              <a:rPr lang="en-US" altLang="ko-KR" sz="1200" b="1" dirty="0">
                <a:solidFill>
                  <a:schemeClr val="tx1"/>
                </a:solidFill>
              </a:rPr>
              <a:t>(3</a:t>
            </a:r>
            <a:r>
              <a:rPr lang="ko-KR" altLang="en-US" sz="1200" b="1" dirty="0">
                <a:solidFill>
                  <a:schemeClr val="tx1"/>
                </a:solidFill>
              </a:rPr>
              <a:t>인치</a:t>
            </a:r>
            <a:r>
              <a:rPr lang="en-US" altLang="ko-KR" sz="1200" b="1" dirty="0">
                <a:solidFill>
                  <a:schemeClr val="tx1"/>
                </a:solidFill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</a:rPr>
              <a:t>천고 약</a:t>
            </a:r>
            <a:r>
              <a:rPr lang="en-US" altLang="ko-KR" sz="1200" b="1" dirty="0">
                <a:solidFill>
                  <a:schemeClr val="tx1"/>
                </a:solidFill>
              </a:rPr>
              <a:t>60</a:t>
            </a:r>
            <a:r>
              <a:rPr lang="ko-KR" altLang="en-US" sz="1200" b="1" dirty="0">
                <a:solidFill>
                  <a:schemeClr val="tx1"/>
                </a:solidFill>
              </a:rPr>
              <a:t>미리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에어컨 박스 </a:t>
            </a:r>
            <a:r>
              <a:rPr lang="ko-KR" altLang="en-US" sz="1200" b="1" dirty="0" err="1">
                <a:solidFill>
                  <a:schemeClr val="tx1"/>
                </a:solidFill>
              </a:rPr>
              <a:t>간접등</a:t>
            </a:r>
            <a:r>
              <a:rPr lang="en-US" altLang="ko-KR" sz="1200" b="1" dirty="0">
                <a:solidFill>
                  <a:schemeClr val="tx1"/>
                </a:solidFill>
              </a:rPr>
              <a:t>(T5)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에어컨 박스 하부 </a:t>
            </a:r>
            <a:r>
              <a:rPr lang="ko-KR" altLang="en-US" sz="1200" b="1" dirty="0" err="1">
                <a:solidFill>
                  <a:schemeClr val="tx1"/>
                </a:solidFill>
              </a:rPr>
              <a:t>매입등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</a:rPr>
              <a:t>에어컨 양옆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거실</a:t>
            </a:r>
            <a:r>
              <a:rPr lang="en-US" altLang="ko-KR" sz="1200" b="1" dirty="0">
                <a:solidFill>
                  <a:schemeClr val="tx1"/>
                </a:solidFill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</a:rPr>
              <a:t>안방 벽면 </a:t>
            </a:r>
            <a:r>
              <a:rPr lang="ko-KR" altLang="en-US" sz="1200" b="1" dirty="0" err="1">
                <a:solidFill>
                  <a:schemeClr val="tx1"/>
                </a:solidFill>
              </a:rPr>
              <a:t>간접등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err="1">
                <a:solidFill>
                  <a:schemeClr val="tx1"/>
                </a:solidFill>
              </a:rPr>
              <a:t>방등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엣지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거실 </a:t>
            </a:r>
            <a:r>
              <a:rPr lang="en-US" altLang="ko-KR" sz="1200" b="1" dirty="0">
                <a:solidFill>
                  <a:schemeClr val="tx1"/>
                </a:solidFill>
              </a:rPr>
              <a:t>1:2:1 (</a:t>
            </a:r>
            <a:r>
              <a:rPr lang="ko-KR" altLang="en-US" sz="1200" b="1" dirty="0" err="1">
                <a:solidFill>
                  <a:schemeClr val="tx1"/>
                </a:solidFill>
              </a:rPr>
              <a:t>엣지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발코니 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>
                <a:solidFill>
                  <a:schemeClr val="tx1"/>
                </a:solidFill>
              </a:rPr>
              <a:t>사각엣지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욕실 </a:t>
            </a:r>
            <a:r>
              <a:rPr lang="en-US" altLang="ko-KR" sz="1200" b="1" dirty="0">
                <a:solidFill>
                  <a:schemeClr val="tx1"/>
                </a:solidFill>
              </a:rPr>
              <a:t>6</a:t>
            </a:r>
            <a:r>
              <a:rPr lang="ko-KR" altLang="en-US" sz="1200" b="1" dirty="0">
                <a:solidFill>
                  <a:schemeClr val="tx1"/>
                </a:solidFill>
              </a:rPr>
              <a:t>인치 방습</a:t>
            </a:r>
            <a:r>
              <a:rPr lang="en-US" altLang="ko-KR" sz="1200" b="1" dirty="0">
                <a:solidFill>
                  <a:schemeClr val="tx1"/>
                </a:solidFill>
              </a:rPr>
              <a:t>2</a:t>
            </a:r>
            <a:r>
              <a:rPr lang="ko-KR" altLang="en-US" sz="1200" b="1" dirty="0">
                <a:solidFill>
                  <a:schemeClr val="tx1"/>
                </a:solidFill>
              </a:rPr>
              <a:t>개씩 총</a:t>
            </a:r>
            <a:r>
              <a:rPr lang="en-US" altLang="ko-KR" sz="1200" b="1" dirty="0">
                <a:solidFill>
                  <a:schemeClr val="tx1"/>
                </a:solidFill>
              </a:rPr>
              <a:t>4</a:t>
            </a:r>
            <a:r>
              <a:rPr lang="ko-KR" altLang="en-US" sz="1200" b="1" dirty="0">
                <a:solidFill>
                  <a:schemeClr val="tx1"/>
                </a:solidFill>
              </a:rPr>
              <a:t>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endParaRPr lang="ko-KR" altLang="en-US" sz="1200" b="1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85824B2-E64F-7F3D-8EA4-69532A43EF0A}"/>
              </a:ext>
            </a:extLst>
          </p:cNvPr>
          <p:cNvSpPr/>
          <p:nvPr/>
        </p:nvSpPr>
        <p:spPr>
          <a:xfrm>
            <a:off x="3950853" y="2223654"/>
            <a:ext cx="72738" cy="37407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ECE4B82-9111-ED0D-DD62-35574E3E54D5}"/>
              </a:ext>
            </a:extLst>
          </p:cNvPr>
          <p:cNvSpPr/>
          <p:nvPr/>
        </p:nvSpPr>
        <p:spPr>
          <a:xfrm>
            <a:off x="267857" y="397164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&lt;</a:t>
            </a:r>
            <a:r>
              <a:rPr lang="ko-KR" altLang="en-US" sz="1400" b="1" dirty="0">
                <a:solidFill>
                  <a:schemeClr val="tx1"/>
                </a:solidFill>
              </a:rPr>
              <a:t>철거</a:t>
            </a:r>
            <a:r>
              <a:rPr lang="en-US" altLang="ko-KR" sz="1400" b="1" dirty="0">
                <a:solidFill>
                  <a:schemeClr val="tx1"/>
                </a:solidFill>
              </a:rPr>
              <a:t>&gt;</a:t>
            </a:r>
            <a:endParaRPr lang="ko-KR" altLang="en-US" sz="1400" b="1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A33F82A3-53BC-0D51-FC10-54840E766713}"/>
              </a:ext>
            </a:extLst>
          </p:cNvPr>
          <p:cNvSpPr/>
          <p:nvPr/>
        </p:nvSpPr>
        <p:spPr>
          <a:xfrm>
            <a:off x="2722427" y="2186708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확장 공사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05A1DF05-CE2B-13D2-1549-F5A78BEE6498}"/>
              </a:ext>
            </a:extLst>
          </p:cNvPr>
          <p:cNvSpPr/>
          <p:nvPr/>
        </p:nvSpPr>
        <p:spPr>
          <a:xfrm>
            <a:off x="4186384" y="5297054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확장 공사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7962CA1-6FF4-5C1A-E885-C6ECC66C489F}"/>
              </a:ext>
            </a:extLst>
          </p:cNvPr>
          <p:cNvCxnSpPr>
            <a:cxnSpLocks/>
          </p:cNvCxnSpPr>
          <p:nvPr/>
        </p:nvCxnSpPr>
        <p:spPr>
          <a:xfrm>
            <a:off x="6531367" y="5912426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C9C6D43-20A1-0EDA-FF15-245B454AE0CA}"/>
              </a:ext>
            </a:extLst>
          </p:cNvPr>
          <p:cNvSpPr/>
          <p:nvPr/>
        </p:nvSpPr>
        <p:spPr>
          <a:xfrm>
            <a:off x="7628762" y="5653808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실외기실</a:t>
            </a:r>
            <a:endParaRPr lang="ko-KR" altLang="en-US" b="1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21A2326-ED79-A9C9-CD8C-8B21F91834FF}"/>
              </a:ext>
            </a:extLst>
          </p:cNvPr>
          <p:cNvSpPr/>
          <p:nvPr/>
        </p:nvSpPr>
        <p:spPr>
          <a:xfrm>
            <a:off x="3482109" y="1470759"/>
            <a:ext cx="3778930" cy="454445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전기 이설작업 있음</a:t>
            </a:r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 err="1">
                <a:solidFill>
                  <a:schemeClr val="tx1"/>
                </a:solidFill>
              </a:rPr>
              <a:t>입구방</a:t>
            </a:r>
            <a:r>
              <a:rPr lang="en-US" altLang="ko-KR" sz="1100" b="1" dirty="0">
                <a:solidFill>
                  <a:schemeClr val="tx1"/>
                </a:solidFill>
              </a:rPr>
              <a:t>,</a:t>
            </a:r>
            <a:r>
              <a:rPr lang="ko-KR" altLang="en-US" sz="1100" b="1" dirty="0" err="1">
                <a:solidFill>
                  <a:schemeClr val="tx1"/>
                </a:solidFill>
              </a:rPr>
              <a:t>아트월기둥</a:t>
            </a:r>
            <a:r>
              <a:rPr lang="en-US" altLang="ko-KR" sz="1100" b="1" dirty="0">
                <a:solidFill>
                  <a:schemeClr val="tx1"/>
                </a:solidFill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</a:rPr>
              <a:t>통신</a:t>
            </a:r>
            <a:r>
              <a:rPr lang="en-US" altLang="ko-KR" sz="1100" b="1" dirty="0">
                <a:solidFill>
                  <a:schemeClr val="tx1"/>
                </a:solidFill>
              </a:rPr>
              <a:t>,</a:t>
            </a:r>
            <a:r>
              <a:rPr lang="ko-KR" altLang="en-US" sz="1100" b="1" dirty="0" err="1">
                <a:solidFill>
                  <a:schemeClr val="tx1"/>
                </a:solidFill>
              </a:rPr>
              <a:t>콘센트등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욕실 거울조명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주방 독립형 차단기 </a:t>
            </a:r>
            <a:r>
              <a:rPr lang="en-US" altLang="ko-KR" sz="1100" b="1" dirty="0">
                <a:solidFill>
                  <a:schemeClr val="tx1"/>
                </a:solidFill>
              </a:rPr>
              <a:t>2</a:t>
            </a:r>
            <a:r>
              <a:rPr lang="ko-KR" altLang="en-US" sz="1100" b="1" dirty="0">
                <a:solidFill>
                  <a:schemeClr val="tx1"/>
                </a:solidFill>
              </a:rPr>
              <a:t>개</a:t>
            </a:r>
            <a:r>
              <a:rPr lang="en-US" altLang="ko-KR" sz="1100" b="1" dirty="0">
                <a:solidFill>
                  <a:schemeClr val="tx1"/>
                </a:solidFill>
              </a:rPr>
              <a:t>(</a:t>
            </a:r>
            <a:r>
              <a:rPr lang="ko-KR" altLang="en-US" sz="1100" b="1" dirty="0" err="1">
                <a:solidFill>
                  <a:schemeClr val="tx1"/>
                </a:solidFill>
              </a:rPr>
              <a:t>인덕션</a:t>
            </a:r>
            <a:r>
              <a:rPr lang="en-US" altLang="ko-KR" sz="1100" b="1" dirty="0">
                <a:solidFill>
                  <a:schemeClr val="tx1"/>
                </a:solidFill>
              </a:rPr>
              <a:t>,</a:t>
            </a:r>
            <a:r>
              <a:rPr lang="ko-KR" altLang="en-US" sz="1100" b="1" dirty="0" err="1">
                <a:solidFill>
                  <a:schemeClr val="tx1"/>
                </a:solidFill>
              </a:rPr>
              <a:t>식세기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endParaRPr lang="ko-KR" altLang="en-US" b="1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8651E7-964F-7EC3-0ACB-CDF3E7C97E19}"/>
              </a:ext>
            </a:extLst>
          </p:cNvPr>
          <p:cNvSpPr/>
          <p:nvPr/>
        </p:nvSpPr>
        <p:spPr>
          <a:xfrm>
            <a:off x="5799915" y="5287820"/>
            <a:ext cx="96344" cy="4679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7F34D6E-E59F-FCEE-3DA2-11B58FCF016B}"/>
              </a:ext>
            </a:extLst>
          </p:cNvPr>
          <p:cNvCxnSpPr/>
          <p:nvPr/>
        </p:nvCxnSpPr>
        <p:spPr>
          <a:xfrm>
            <a:off x="3622967" y="3528868"/>
            <a:ext cx="0" cy="21249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0364C8C5-6622-82A0-4171-8CA0134753A6}"/>
              </a:ext>
            </a:extLst>
          </p:cNvPr>
          <p:cNvCxnSpPr>
            <a:cxnSpLocks/>
          </p:cNvCxnSpPr>
          <p:nvPr/>
        </p:nvCxnSpPr>
        <p:spPr>
          <a:xfrm>
            <a:off x="3622967" y="5653808"/>
            <a:ext cx="2176948" cy="258618"/>
          </a:xfrm>
          <a:prstGeom prst="bentConnector3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866C8D0-83BD-0AE7-D299-5E38BC088D4C}"/>
              </a:ext>
            </a:extLst>
          </p:cNvPr>
          <p:cNvCxnSpPr>
            <a:cxnSpLocks/>
          </p:cNvCxnSpPr>
          <p:nvPr/>
        </p:nvCxnSpPr>
        <p:spPr>
          <a:xfrm>
            <a:off x="7779334" y="5498705"/>
            <a:ext cx="56110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2FE214C-8415-ED58-483C-47900E735BC8}"/>
              </a:ext>
            </a:extLst>
          </p:cNvPr>
          <p:cNvSpPr/>
          <p:nvPr/>
        </p:nvSpPr>
        <p:spPr>
          <a:xfrm>
            <a:off x="8059876" y="5252697"/>
            <a:ext cx="1960417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에어컨박스 </a:t>
            </a:r>
            <a:r>
              <a:rPr lang="ko-KR" altLang="en-US" sz="1100" b="1" dirty="0" err="1">
                <a:solidFill>
                  <a:schemeClr val="tx1"/>
                </a:solidFill>
              </a:rPr>
              <a:t>간접등</a:t>
            </a:r>
            <a:endParaRPr lang="ko-KR" altLang="en-US" b="1" dirty="0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188A9DC-7396-7264-C517-48EDB3FAA725}"/>
              </a:ext>
            </a:extLst>
          </p:cNvPr>
          <p:cNvCxnSpPr/>
          <p:nvPr/>
        </p:nvCxnSpPr>
        <p:spPr>
          <a:xfrm>
            <a:off x="5921767" y="5521812"/>
            <a:ext cx="629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A49DAA5-CA3F-5FCE-E653-53D81776B87C}"/>
              </a:ext>
            </a:extLst>
          </p:cNvPr>
          <p:cNvCxnSpPr/>
          <p:nvPr/>
        </p:nvCxnSpPr>
        <p:spPr>
          <a:xfrm flipH="1">
            <a:off x="5689600" y="5653808"/>
            <a:ext cx="110315" cy="71928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57ABB3E-B487-6353-9F73-D5CBE0582A15}"/>
              </a:ext>
            </a:extLst>
          </p:cNvPr>
          <p:cNvSpPr/>
          <p:nvPr/>
        </p:nvSpPr>
        <p:spPr>
          <a:xfrm>
            <a:off x="5080000" y="6304971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가벽설치</a:t>
            </a:r>
            <a:endParaRPr lang="ko-KR" altLang="en-US" b="1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85E9D88-671C-484B-1458-820EFCD2D147}"/>
              </a:ext>
            </a:extLst>
          </p:cNvPr>
          <p:cNvCxnSpPr>
            <a:cxnSpLocks/>
          </p:cNvCxnSpPr>
          <p:nvPr/>
        </p:nvCxnSpPr>
        <p:spPr>
          <a:xfrm>
            <a:off x="5820060" y="4193309"/>
            <a:ext cx="589976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442CE57-E03D-2667-914A-5F901CE256DB}"/>
              </a:ext>
            </a:extLst>
          </p:cNvPr>
          <p:cNvCxnSpPr>
            <a:cxnSpLocks/>
          </p:cNvCxnSpPr>
          <p:nvPr/>
        </p:nvCxnSpPr>
        <p:spPr>
          <a:xfrm flipV="1">
            <a:off x="5827574" y="4179737"/>
            <a:ext cx="0" cy="664441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BA08DB9-F9DA-C028-51DC-B8D435C44F10}"/>
              </a:ext>
            </a:extLst>
          </p:cNvPr>
          <p:cNvCxnSpPr>
            <a:cxnSpLocks/>
          </p:cNvCxnSpPr>
          <p:nvPr/>
        </p:nvCxnSpPr>
        <p:spPr>
          <a:xfrm flipH="1">
            <a:off x="1394691" y="5653808"/>
            <a:ext cx="2148758" cy="65116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A8D615E-73CF-B335-D998-9A67C71F9F9A}"/>
              </a:ext>
            </a:extLst>
          </p:cNvPr>
          <p:cNvSpPr/>
          <p:nvPr/>
        </p:nvSpPr>
        <p:spPr>
          <a:xfrm>
            <a:off x="414482" y="6078679"/>
            <a:ext cx="1219200" cy="517236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터닝도어</a:t>
            </a:r>
            <a:endParaRPr lang="ko-KR" altLang="en-US" b="1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5170835-98C1-7104-B8CA-75B31939C597}"/>
              </a:ext>
            </a:extLst>
          </p:cNvPr>
          <p:cNvSpPr/>
          <p:nvPr/>
        </p:nvSpPr>
        <p:spPr>
          <a:xfrm>
            <a:off x="3749964" y="3823855"/>
            <a:ext cx="349146" cy="1448685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3F6068A-AB9C-5169-37D1-CDDC81DFE232}"/>
              </a:ext>
            </a:extLst>
          </p:cNvPr>
          <p:cNvSpPr/>
          <p:nvPr/>
        </p:nvSpPr>
        <p:spPr>
          <a:xfrm>
            <a:off x="3872371" y="3894279"/>
            <a:ext cx="1219200" cy="517236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간접 </a:t>
            </a:r>
            <a:r>
              <a:rPr lang="ko-KR" altLang="en-US" sz="1100" b="1" dirty="0" err="1">
                <a:solidFill>
                  <a:schemeClr val="tx1"/>
                </a:solidFill>
              </a:rPr>
              <a:t>등박스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5A46738-3F81-BE54-F859-45502B930847}"/>
              </a:ext>
            </a:extLst>
          </p:cNvPr>
          <p:cNvSpPr/>
          <p:nvPr/>
        </p:nvSpPr>
        <p:spPr>
          <a:xfrm>
            <a:off x="3426750" y="3894279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2B258F8-E7D4-96CB-6D69-2DB08D2D476D}"/>
              </a:ext>
            </a:extLst>
          </p:cNvPr>
          <p:cNvSpPr/>
          <p:nvPr/>
        </p:nvSpPr>
        <p:spPr>
          <a:xfrm>
            <a:off x="6090558" y="3894567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00FD501-4EAD-9043-3B15-186DF9FC2E71}"/>
              </a:ext>
            </a:extLst>
          </p:cNvPr>
          <p:cNvSpPr/>
          <p:nvPr/>
        </p:nvSpPr>
        <p:spPr>
          <a:xfrm>
            <a:off x="6088942" y="4343586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D46454F-CA94-AC31-2F9A-7C99CDD21942}"/>
              </a:ext>
            </a:extLst>
          </p:cNvPr>
          <p:cNvSpPr/>
          <p:nvPr/>
        </p:nvSpPr>
        <p:spPr>
          <a:xfrm>
            <a:off x="6104996" y="4834743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ECC54DA-4D62-373B-A3FA-3C9AF651E496}"/>
              </a:ext>
            </a:extLst>
          </p:cNvPr>
          <p:cNvSpPr/>
          <p:nvPr/>
        </p:nvSpPr>
        <p:spPr>
          <a:xfrm>
            <a:off x="6104264" y="5325210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79D6043-F595-2C99-CD17-8256CE94F20F}"/>
              </a:ext>
            </a:extLst>
          </p:cNvPr>
          <p:cNvSpPr/>
          <p:nvPr/>
        </p:nvSpPr>
        <p:spPr>
          <a:xfrm>
            <a:off x="5387693" y="3898896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845DFBB-082D-92E4-7AF0-08D3429D82BC}"/>
              </a:ext>
            </a:extLst>
          </p:cNvPr>
          <p:cNvSpPr/>
          <p:nvPr/>
        </p:nvSpPr>
        <p:spPr>
          <a:xfrm>
            <a:off x="4795985" y="3894279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13AB318-7CDA-82E9-FC0B-B451B06745A4}"/>
              </a:ext>
            </a:extLst>
          </p:cNvPr>
          <p:cNvSpPr/>
          <p:nvPr/>
        </p:nvSpPr>
        <p:spPr>
          <a:xfrm>
            <a:off x="4099110" y="3879960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7CB6FCE2-5FA9-CF90-132B-52931719B9B0}"/>
              </a:ext>
            </a:extLst>
          </p:cNvPr>
          <p:cNvSpPr/>
          <p:nvPr/>
        </p:nvSpPr>
        <p:spPr>
          <a:xfrm>
            <a:off x="5289806" y="5653808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2864AA5-05F6-A431-8213-00059765A736}"/>
              </a:ext>
            </a:extLst>
          </p:cNvPr>
          <p:cNvSpPr/>
          <p:nvPr/>
        </p:nvSpPr>
        <p:spPr>
          <a:xfrm>
            <a:off x="4120503" y="5654961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D20B5B42-FB7A-E186-2410-965EFBAB1B4D}"/>
              </a:ext>
            </a:extLst>
          </p:cNvPr>
          <p:cNvSpPr/>
          <p:nvPr/>
        </p:nvSpPr>
        <p:spPr>
          <a:xfrm>
            <a:off x="3399007" y="4944065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AA1CB58C-3CBB-9031-B6FE-62CF6F944FD6}"/>
              </a:ext>
            </a:extLst>
          </p:cNvPr>
          <p:cNvSpPr/>
          <p:nvPr/>
        </p:nvSpPr>
        <p:spPr>
          <a:xfrm>
            <a:off x="3396766" y="4368513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BCC6A18D-3179-2C6D-CF91-3419FA5842CA}"/>
              </a:ext>
            </a:extLst>
          </p:cNvPr>
          <p:cNvSpPr/>
          <p:nvPr/>
        </p:nvSpPr>
        <p:spPr>
          <a:xfrm>
            <a:off x="3681841" y="3366080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1CE0563-A6FF-61B5-DBA3-544B8947442A}"/>
              </a:ext>
            </a:extLst>
          </p:cNvPr>
          <p:cNvSpPr/>
          <p:nvPr/>
        </p:nvSpPr>
        <p:spPr>
          <a:xfrm>
            <a:off x="3682732" y="2762303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A0D64381-9ED4-8FCC-6264-5080F10ABEB9}"/>
              </a:ext>
            </a:extLst>
          </p:cNvPr>
          <p:cNvSpPr/>
          <p:nvPr/>
        </p:nvSpPr>
        <p:spPr>
          <a:xfrm>
            <a:off x="6767450" y="5443303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803D8C0-5323-535D-4DBE-E999F5A2AE35}"/>
              </a:ext>
            </a:extLst>
          </p:cNvPr>
          <p:cNvSpPr/>
          <p:nvPr/>
        </p:nvSpPr>
        <p:spPr>
          <a:xfrm>
            <a:off x="7574105" y="5435220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AAD3A04E-D8F6-DDDD-1F80-29C04B2556C7}"/>
              </a:ext>
            </a:extLst>
          </p:cNvPr>
          <p:cNvSpPr/>
          <p:nvPr/>
        </p:nvSpPr>
        <p:spPr>
          <a:xfrm>
            <a:off x="6551464" y="5306738"/>
            <a:ext cx="1376637" cy="409154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CA23F390-FE04-BA57-1AEC-68D835227B18}"/>
              </a:ext>
            </a:extLst>
          </p:cNvPr>
          <p:cNvSpPr/>
          <p:nvPr/>
        </p:nvSpPr>
        <p:spPr>
          <a:xfrm>
            <a:off x="3906984" y="5379199"/>
            <a:ext cx="1675180" cy="590377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9207FBEE-5207-F116-EA81-309FDEA99192}"/>
              </a:ext>
            </a:extLst>
          </p:cNvPr>
          <p:cNvSpPr/>
          <p:nvPr/>
        </p:nvSpPr>
        <p:spPr>
          <a:xfrm rot="5400000">
            <a:off x="2854133" y="4552262"/>
            <a:ext cx="991722" cy="383929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7985F7D5-128A-6AAB-4A8A-E085B4D2C33A}"/>
              </a:ext>
            </a:extLst>
          </p:cNvPr>
          <p:cNvSpPr/>
          <p:nvPr/>
        </p:nvSpPr>
        <p:spPr>
          <a:xfrm rot="5400000">
            <a:off x="3248018" y="2983769"/>
            <a:ext cx="991722" cy="383929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49AC1654-C190-EF72-8FE1-C56799AC4E97}"/>
              </a:ext>
            </a:extLst>
          </p:cNvPr>
          <p:cNvSpPr/>
          <p:nvPr/>
        </p:nvSpPr>
        <p:spPr>
          <a:xfrm>
            <a:off x="4167232" y="3043177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5AB0E4C5-712F-6AEC-F3FD-68D884E49219}"/>
              </a:ext>
            </a:extLst>
          </p:cNvPr>
          <p:cNvSpPr/>
          <p:nvPr/>
        </p:nvSpPr>
        <p:spPr>
          <a:xfrm>
            <a:off x="4462785" y="3038182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64E6C0C0-1A8B-FF1B-4E94-FE603270B96B}"/>
              </a:ext>
            </a:extLst>
          </p:cNvPr>
          <p:cNvSpPr/>
          <p:nvPr/>
        </p:nvSpPr>
        <p:spPr>
          <a:xfrm>
            <a:off x="4697208" y="3033254"/>
            <a:ext cx="136245" cy="157018"/>
          </a:xfrm>
          <a:prstGeom prst="ellipse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11BBFA40-0F7E-74B6-E7B1-49972AECCF69}"/>
              </a:ext>
            </a:extLst>
          </p:cNvPr>
          <p:cNvSpPr/>
          <p:nvPr/>
        </p:nvSpPr>
        <p:spPr>
          <a:xfrm>
            <a:off x="5744757" y="5755805"/>
            <a:ext cx="783884" cy="392543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214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685</Words>
  <Application>Microsoft Office PowerPoint</Application>
  <PresentationFormat>와이드스크린</PresentationFormat>
  <Paragraphs>230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진환 김</dc:creator>
  <cp:lastModifiedBy>진환 김</cp:lastModifiedBy>
  <cp:revision>9</cp:revision>
  <dcterms:created xsi:type="dcterms:W3CDTF">2025-09-15T01:40:32Z</dcterms:created>
  <dcterms:modified xsi:type="dcterms:W3CDTF">2025-11-05T09:21:19Z</dcterms:modified>
</cp:coreProperties>
</file>